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8" r:id="rId12"/>
    <p:sldId id="279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B98CFCF-8F7D-4DB4-A51A-9E3AD1FAB171}">
  <a:tblStyle styleId="{BB98CFCF-8F7D-4DB4-A51A-9E3AD1FAB17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66" y="1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67343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9" name="Google Shape;28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31.png"/><Relationship Id="rId5" Type="http://schemas.openxmlformats.org/officeDocument/2006/relationships/image" Target="../media/image26.png"/><Relationship Id="rId10" Type="http://schemas.openxmlformats.org/officeDocument/2006/relationships/image" Target="../media/image30.png"/><Relationship Id="rId4" Type="http://schemas.openxmlformats.org/officeDocument/2006/relationships/image" Target="../media/image25.png"/><Relationship Id="rId9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0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47.png"/><Relationship Id="rId5" Type="http://schemas.openxmlformats.org/officeDocument/2006/relationships/image" Target="../media/image42.png"/><Relationship Id="rId10" Type="http://schemas.openxmlformats.org/officeDocument/2006/relationships/image" Target="../media/image46.png"/><Relationship Id="rId4" Type="http://schemas.openxmlformats.org/officeDocument/2006/relationships/image" Target="../media/image41.png"/><Relationship Id="rId9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jpg"/><Relationship Id="rId18" Type="http://schemas.openxmlformats.org/officeDocument/2006/relationships/image" Target="../media/image6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" Type="http://schemas.openxmlformats.org/officeDocument/2006/relationships/image" Target="../media/image49.jpg"/><Relationship Id="rId16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5" Type="http://schemas.openxmlformats.org/officeDocument/2006/relationships/image" Target="../media/image62.png"/><Relationship Id="rId10" Type="http://schemas.openxmlformats.org/officeDocument/2006/relationships/image" Target="../media/image57.png"/><Relationship Id="rId19" Type="http://schemas.openxmlformats.org/officeDocument/2006/relationships/image" Target="../media/image66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jpg"/><Relationship Id="rId13" Type="http://schemas.openxmlformats.org/officeDocument/2006/relationships/image" Target="../media/image77.jpg"/><Relationship Id="rId18" Type="http://schemas.openxmlformats.org/officeDocument/2006/relationships/image" Target="../media/image82.jpg"/><Relationship Id="rId3" Type="http://schemas.openxmlformats.org/officeDocument/2006/relationships/image" Target="../media/image67.jpg"/><Relationship Id="rId7" Type="http://schemas.openxmlformats.org/officeDocument/2006/relationships/image" Target="../media/image71.jpg"/><Relationship Id="rId12" Type="http://schemas.openxmlformats.org/officeDocument/2006/relationships/image" Target="../media/image76.jpg"/><Relationship Id="rId17" Type="http://schemas.openxmlformats.org/officeDocument/2006/relationships/image" Target="../media/image81.jp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80.jpg"/><Relationship Id="rId20" Type="http://schemas.openxmlformats.org/officeDocument/2006/relationships/image" Target="../media/image84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jpg"/><Relationship Id="rId11" Type="http://schemas.openxmlformats.org/officeDocument/2006/relationships/image" Target="../media/image75.jpg"/><Relationship Id="rId5" Type="http://schemas.openxmlformats.org/officeDocument/2006/relationships/image" Target="../media/image69.jpg"/><Relationship Id="rId15" Type="http://schemas.openxmlformats.org/officeDocument/2006/relationships/image" Target="../media/image79.jpg"/><Relationship Id="rId10" Type="http://schemas.openxmlformats.org/officeDocument/2006/relationships/image" Target="../media/image74.jpg"/><Relationship Id="rId19" Type="http://schemas.openxmlformats.org/officeDocument/2006/relationships/image" Target="../media/image83.jpg"/><Relationship Id="rId4" Type="http://schemas.openxmlformats.org/officeDocument/2006/relationships/image" Target="../media/image68.jpg"/><Relationship Id="rId9" Type="http://schemas.openxmlformats.org/officeDocument/2006/relationships/image" Target="../media/image73.jpg"/><Relationship Id="rId14" Type="http://schemas.openxmlformats.org/officeDocument/2006/relationships/image" Target="../media/image78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4.png"/><Relationship Id="rId7" Type="http://schemas.openxmlformats.org/officeDocument/2006/relationships/image" Target="../media/image8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10" Type="http://schemas.openxmlformats.org/officeDocument/2006/relationships/image" Target="../media/image90.png"/><Relationship Id="rId4" Type="http://schemas.openxmlformats.org/officeDocument/2006/relationships/image" Target="../media/image3.png"/><Relationship Id="rId9" Type="http://schemas.openxmlformats.org/officeDocument/2006/relationships/image" Target="../media/image8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1.png"/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png"/><Relationship Id="rId5" Type="http://schemas.openxmlformats.org/officeDocument/2006/relationships/image" Target="../media/image3.png"/><Relationship Id="rId4" Type="http://schemas.openxmlformats.org/officeDocument/2006/relationships/image" Target="../media/image92.png"/><Relationship Id="rId9" Type="http://schemas.openxmlformats.org/officeDocument/2006/relationships/image" Target="../media/image9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33.png"/><Relationship Id="rId7" Type="http://schemas.openxmlformats.org/officeDocument/2006/relationships/image" Target="../media/image9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3.png"/><Relationship Id="rId9" Type="http://schemas.openxmlformats.org/officeDocument/2006/relationships/image" Target="../media/image101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2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9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10" Type="http://schemas.openxmlformats.org/officeDocument/2006/relationships/image" Target="../media/image107.png"/><Relationship Id="rId4" Type="http://schemas.openxmlformats.org/officeDocument/2006/relationships/image" Target="../media/image91.png"/><Relationship Id="rId9" Type="http://schemas.openxmlformats.org/officeDocument/2006/relationships/image" Target="../media/image10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7" Type="http://schemas.openxmlformats.org/officeDocument/2006/relationships/image" Target="../media/image1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77864" y="623668"/>
            <a:ext cx="6836271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027022" y="1104900"/>
            <a:ext cx="6137954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WATCHERA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3173164" y="2362200"/>
            <a:ext cx="584567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E-Commerce Website of Watches</a:t>
            </a:r>
            <a:endParaRPr dirty="0"/>
          </a:p>
        </p:txBody>
      </p:sp>
      <p:pic>
        <p:nvPicPr>
          <p:cNvPr id="88" name="Google Shape;88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9136" y="6319618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771525" y="6310312"/>
            <a:ext cx="1095330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 dirty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Welcome to our final year BCA presentation on WATCHERA, developed under the guidance of Prof. Disha </a:t>
            </a:r>
            <a:r>
              <a:rPr lang="en-US" sz="1350" b="0" i="1" u="none" strike="noStrike" cap="none" dirty="0" err="1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Nalwala</a:t>
            </a:r>
            <a:r>
              <a:rPr lang="en-US" sz="135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at SDJ International College.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173164" y="2990850"/>
            <a:ext cx="584567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Presented By: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Bhingradia Fenil (6756) | Savsani Ronak (7191) | Avaiya Nand (6730)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3173164" y="3752850"/>
            <a:ext cx="5845671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Guided By: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Prof. Disha Nalwala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3173164" y="4229100"/>
            <a:ext cx="5845671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SDJ International College, Vesu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BCA Sem VI | A.Y. 2025-26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757362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3543" y="6193006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771525" y="6181725"/>
            <a:ext cx="110394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Watchera bridges the gap between traditional luxury boutiques and modern web convenience, offering a premium digital storefront for watch enthusiasts.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1652587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WATCHERA is a premium e-commerce platform designed to provide a secure, seamless, and sophisticated online shopping experience for luxury timepieces.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42950" y="270033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809625" y="2700337"/>
            <a:ext cx="504825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Transitions the elite boutique experience into a responsive digital space.</a:t>
            </a:r>
            <a:endParaRPr dirty="0"/>
          </a:p>
        </p:txBody>
      </p:sp>
      <p:sp>
        <p:nvSpPr>
          <p:cNvPr id="103" name="Google Shape;103;p14"/>
          <p:cNvSpPr txBox="1"/>
          <p:nvPr/>
        </p:nvSpPr>
        <p:spPr>
          <a:xfrm>
            <a:off x="742950" y="344328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09625" y="3443287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Allows customers to confidently browse, evaluate, and purchase high-end watches.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42950" y="418623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09625" y="4186237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Built on a modern, robust architecture ensuring fast performance and transaction integrity.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742950" y="492918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09625" y="4929187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Separated module structure ensures secure operations across different access levels.</a:t>
            </a:r>
            <a:endParaRPr/>
          </a:p>
        </p:txBody>
      </p:sp>
      <p:pic>
        <p:nvPicPr>
          <p:cNvPr id="109" name="Google Shape;10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72225" y="1795462"/>
            <a:ext cx="5210175" cy="354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571500" y="423862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WATCHERA</a:t>
            </a: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571500" y="1147762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609725"/>
            <a:ext cx="3492549" cy="391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1609725"/>
            <a:ext cx="3492549" cy="391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1609725"/>
            <a:ext cx="3492549" cy="391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1000" y="6305550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771525" y="6181725"/>
            <a:ext cx="110394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luxury watch industry relies on outdated physical models or generic web templates that fail to capture the exclusivity expected by high-end buyers.</a:t>
            </a:r>
            <a:endParaRPr/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984325" y="190500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1084886" y="2762250"/>
            <a:ext cx="246577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Geographical Limits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771525" y="3495675"/>
            <a:ext cx="309249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Physical stores restrict sales to local areas and specific operating hours, severely limiting market reach for luxury brands.</a:t>
            </a:r>
            <a:endParaRPr/>
          </a:p>
        </p:txBody>
      </p:sp>
      <p:pic>
        <p:nvPicPr>
          <p:cNvPr id="124" name="Google Shape;124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62625" y="190500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4472512" y="2762250"/>
            <a:ext cx="3247124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Clunky UX &amp; Performance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4549824" y="3895725"/>
            <a:ext cx="309249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Traditional multi-page websites suffer from slow load times and poor mobile optimization, breaking the immersive feel expected by buyers.</a:t>
            </a:r>
            <a:endParaRPr/>
          </a:p>
        </p:txBody>
      </p:sp>
      <p:pic>
        <p:nvPicPr>
          <p:cNvPr id="127" name="Google Shape;127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40924" y="190500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8921364" y="2762250"/>
            <a:ext cx="190601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Rigid Inventory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8328124" y="3495675"/>
            <a:ext cx="3092499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Outdated relational databases struggle to adapt to new watch types with different technical specs, requiring time-consuming restructuring.</a:t>
            </a:r>
            <a:endParaRPr/>
          </a:p>
        </p:txBody>
      </p:sp>
      <p:pic>
        <p:nvPicPr>
          <p:cNvPr id="130" name="Google Shape;130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146250" y="2085975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981700" y="2085975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740949" y="2085975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571500" y="476250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6305550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771525" y="6181725"/>
            <a:ext cx="110394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Our main goals were security, speed, and usability. We aimed to build a platform that protects user data while delivering a seamless, app-like experience.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1047750" y="1328737"/>
            <a:ext cx="904875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Secure Authentication: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Implement strict JWT sessions and bcrypt encryption to protect sensitive customer data.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1047750" y="2224087"/>
            <a:ext cx="904875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High Performance: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Guarantee fast page load times under 3 seconds using asynchronous processing and SPA rendering.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1047750" y="3119437"/>
            <a:ext cx="904875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Role Segregation: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Create dedicated, secure modules for Customers, Staff, and Administrators to streamline operations.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1047750" y="4014787"/>
            <a:ext cx="904875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Responsive Design: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Deliver a flawless, mobile-first shopping experience utilizing utility-first CSS frameworks.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1047750" y="4910137"/>
            <a:ext cx="904875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Business Analytics: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Provide real-time data tracking for sales, inventory, and revenue to assist administrative oversight.</a:t>
            </a:r>
            <a:endParaRPr/>
          </a:p>
        </p:txBody>
      </p:sp>
      <p:pic>
        <p:nvPicPr>
          <p:cNvPr id="146" name="Google Shape;14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573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25266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14801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043362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93871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571500" y="290512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Objectives</a:t>
            </a:r>
            <a:endParaRPr/>
          </a:p>
        </p:txBody>
      </p:sp>
      <p:sp>
        <p:nvSpPr>
          <p:cNvPr id="152" name="Google Shape;152;p16"/>
          <p:cNvSpPr/>
          <p:nvPr/>
        </p:nvSpPr>
        <p:spPr>
          <a:xfrm>
            <a:off x="571500" y="1014412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585912"/>
            <a:ext cx="5286375" cy="396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585912"/>
            <a:ext cx="5286375" cy="396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6305550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771525" y="6181725"/>
            <a:ext cx="110394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scope encompasses distinct experiences: a powerful management dashboard for the admins, and a seamless, feature-rich shopping interface for the customers.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962025" y="1976437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 / Owner Scope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962025" y="2566987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Serving as the central command center with absolute control over backend operations: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6724650" y="1976437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00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 Scope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6724650" y="2566987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Delivering a frictionless, premium shopping journey focusing on discovery:</a:t>
            </a:r>
            <a:endParaRPr/>
          </a:p>
        </p:txBody>
      </p:sp>
      <p:pic>
        <p:nvPicPr>
          <p:cNvPr id="165" name="Google Shape;165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033587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1085850" y="332898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1152525" y="3328987"/>
            <a:ext cx="43148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Real-time dashboard analytics (revenue, orders).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1085850" y="378618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1152525" y="3786187"/>
            <a:ext cx="43148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Full Catalog Management (CRUD operations).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1085850" y="424338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1152525" y="4243387"/>
            <a:ext cx="43148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Order lifecycle and financial oversight.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1085850" y="470058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1152525" y="4700587"/>
            <a:ext cx="43148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User role management and marketing promotions.</a:t>
            </a:r>
            <a:endParaRPr/>
          </a:p>
        </p:txBody>
      </p:sp>
      <p:pic>
        <p:nvPicPr>
          <p:cNvPr id="174" name="Google Shape;174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50" y="2033587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7"/>
          <p:cNvSpPr txBox="1"/>
          <p:nvPr/>
        </p:nvSpPr>
        <p:spPr>
          <a:xfrm>
            <a:off x="6848475" y="332898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6915150" y="3328987"/>
            <a:ext cx="43148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Advanced dynamic filtering without page reloads.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6848475" y="378618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6915150" y="3786187"/>
            <a:ext cx="43148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Secure profile and multiple address management.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6848475" y="424338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6915150" y="4243387"/>
            <a:ext cx="43148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Persistent cart and multi-step secure checkout.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6848475" y="470058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6915150" y="4700587"/>
            <a:ext cx="43148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Real-time order tracking and community reviews.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571500" y="476250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Scope of the Project</a:t>
            </a:r>
            <a:endParaRPr/>
          </a:p>
        </p:txBody>
      </p:sp>
      <p:sp>
        <p:nvSpPr>
          <p:cNvPr id="184" name="Google Shape;184;p17"/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666875"/>
            <a:ext cx="3492549" cy="380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1666875"/>
            <a:ext cx="3492549" cy="380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1666875"/>
            <a:ext cx="3492549" cy="380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1000" y="6305550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8"/>
          <p:cNvSpPr txBox="1"/>
          <p:nvPr/>
        </p:nvSpPr>
        <p:spPr>
          <a:xfrm>
            <a:off x="771525" y="6181725"/>
            <a:ext cx="110394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Before development, we ensured the project was technically possible using the MEAN stack, financially sound using open-source tools, and operationally logical.</a:t>
            </a:r>
            <a:endParaRPr/>
          </a:p>
        </p:txBody>
      </p:sp>
      <p:pic>
        <p:nvPicPr>
          <p:cNvPr id="194" name="Google Shape;194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984325" y="196215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8"/>
          <p:cNvSpPr txBox="1"/>
          <p:nvPr/>
        </p:nvSpPr>
        <p:spPr>
          <a:xfrm>
            <a:off x="1089886" y="2819400"/>
            <a:ext cx="245577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Feasibility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771525" y="3552825"/>
            <a:ext cx="309249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Utilizes the proven MEAN stack. Angular's SPA architecture ensures speed, while REST APIs guarantee stable connections to the database.</a:t>
            </a:r>
            <a:endParaRPr/>
          </a:p>
        </p:txBody>
      </p:sp>
      <p:pic>
        <p:nvPicPr>
          <p:cNvPr id="197" name="Google Shape;197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62625" y="196215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8"/>
          <p:cNvSpPr txBox="1"/>
          <p:nvPr/>
        </p:nvSpPr>
        <p:spPr>
          <a:xfrm>
            <a:off x="4847562" y="2819400"/>
            <a:ext cx="2496874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Economic Feasibility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4549824" y="3552825"/>
            <a:ext cx="3092499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Leveraging open-source technologies eliminates software licensing fees. Cloud hosting provides a cost-effective, pay-as-you-go model.</a:t>
            </a:r>
            <a:endParaRPr/>
          </a:p>
        </p:txBody>
      </p:sp>
      <p:pic>
        <p:nvPicPr>
          <p:cNvPr id="200" name="Google Shape;200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40924" y="196215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8"/>
          <p:cNvSpPr txBox="1"/>
          <p:nvPr/>
        </p:nvSpPr>
        <p:spPr>
          <a:xfrm>
            <a:off x="8493654" y="2819400"/>
            <a:ext cx="276143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Operational Feasibility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8328124" y="3552825"/>
            <a:ext cx="309249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Distinct modules securely streamline daily workflows. Automated tracking and inventory updates significantly reduce manual administrative work.</a:t>
            </a:r>
            <a:endParaRPr/>
          </a:p>
        </p:txBody>
      </p:sp>
      <p:pic>
        <p:nvPicPr>
          <p:cNvPr id="203" name="Google Shape;203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165300" y="214312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943600" y="214312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683799" y="2143125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8"/>
          <p:cNvSpPr txBox="1"/>
          <p:nvPr/>
        </p:nvSpPr>
        <p:spPr>
          <a:xfrm>
            <a:off x="571500" y="476250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Feasibility Study</a:t>
            </a:r>
            <a:endParaRPr/>
          </a:p>
        </p:txBody>
      </p:sp>
      <p:sp>
        <p:nvSpPr>
          <p:cNvPr id="207" name="Google Shape;207;p18"/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757362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305550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9"/>
          <p:cNvSpPr txBox="1"/>
          <p:nvPr/>
        </p:nvSpPr>
        <p:spPr>
          <a:xfrm>
            <a:off x="771525" y="6310312"/>
            <a:ext cx="1065430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Existing retail systems limit sales geographically and rely on rigid, outdated databases that make scaling a luxury brand digitally very difficult.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6334125" y="1524000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Drawbacks of Current Models:</a:t>
            </a:r>
            <a:endParaRPr/>
          </a:p>
        </p:txBody>
      </p:sp>
      <p:pic>
        <p:nvPicPr>
          <p:cNvPr id="216" name="Google Shape;21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600" y="1795462"/>
            <a:ext cx="5210175" cy="3543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9"/>
          <p:cNvSpPr txBox="1"/>
          <p:nvPr/>
        </p:nvSpPr>
        <p:spPr>
          <a:xfrm>
            <a:off x="6505575" y="2066925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6572250" y="2066925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Physical Limitations: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Brick-and-mortar stores are bound by time and geography, limiting potential revenue.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6505575" y="2809875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6572250" y="2809875"/>
            <a:ext cx="50482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Inadequate Role Management: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Legacy systems lack dedicated "Staff" modules, forcing owners to share admin credentials.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6505575" y="3838575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6572250" y="3838575"/>
            <a:ext cx="50482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Generic Aesthetics: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Standard e-commerce templates fail to capture the high-end branding required to sell luxury investments.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6505575" y="4867275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6572250" y="4867275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Data Rigidity: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Traditional databases require schema alterations just to add products with unique specifications.</a:t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571500" y="476250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Existing System</a:t>
            </a:r>
            <a:endParaRPr/>
          </a:p>
        </p:txBody>
      </p:sp>
      <p:sp>
        <p:nvSpPr>
          <p:cNvPr id="226" name="Google Shape;226;p19"/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757362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305550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0"/>
          <p:cNvSpPr txBox="1"/>
          <p:nvPr/>
        </p:nvSpPr>
        <p:spPr>
          <a:xfrm>
            <a:off x="771525" y="6181725"/>
            <a:ext cx="110394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Our proposed system, WATCHERA, solves these issues with a fast Single Page Application, a flexible NoSQL database, and strict user role management.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571500" y="1666875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Introducing WATCHERA: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742950" y="220980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809625" y="2209800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Modern SPA Architecture: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Utilizing Angular to create a seamless, app-like experience without full-page reloads.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742950" y="295275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809625" y="2952750"/>
            <a:ext cx="50482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Flexible Data Storage: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Implementing MongoDB's NoSQL document structure to easily handle varying watch specifications.</a:t>
            </a:r>
            <a:endParaRPr dirty="0"/>
          </a:p>
        </p:txBody>
      </p:sp>
      <p:sp>
        <p:nvSpPr>
          <p:cNvPr id="239" name="Google Shape;239;p20"/>
          <p:cNvSpPr txBox="1"/>
          <p:nvPr/>
        </p:nvSpPr>
        <p:spPr>
          <a:xfrm>
            <a:off x="742950" y="398145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809625" y="3981450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Strict Role Segregation: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Custom modules designed specifically for Admin, Staff, and Customers to protect data.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742950" y="472440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809625" y="4724400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Premium Digital Branding: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A sophisticated UI built with Tailwind CSS to perfectly match luxury guidelines.</a:t>
            </a:r>
            <a:endParaRPr/>
          </a:p>
        </p:txBody>
      </p:sp>
      <p:pic>
        <p:nvPicPr>
          <p:cNvPr id="243" name="Google Shape;24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72225" y="1795462"/>
            <a:ext cx="5210175" cy="3543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0"/>
          <p:cNvSpPr txBox="1"/>
          <p:nvPr/>
        </p:nvSpPr>
        <p:spPr>
          <a:xfrm>
            <a:off x="571500" y="476250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Proposed Solution</a:t>
            </a:r>
            <a:endParaRPr/>
          </a:p>
        </p:txBody>
      </p:sp>
      <p:sp>
        <p:nvSpPr>
          <p:cNvPr id="245" name="Google Shape;245;p20"/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1"/>
          <p:cNvSpPr txBox="1"/>
          <p:nvPr/>
        </p:nvSpPr>
        <p:spPr>
          <a:xfrm>
            <a:off x="571500" y="571500"/>
            <a:ext cx="5150643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  <a:endParaRPr dirty="0"/>
          </a:p>
        </p:txBody>
      </p:sp>
      <p:pic>
        <p:nvPicPr>
          <p:cNvPr id="251" name="Google Shape;25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7272" y="6432159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1"/>
          <p:cNvSpPr txBox="1"/>
          <p:nvPr/>
        </p:nvSpPr>
        <p:spPr>
          <a:xfrm>
            <a:off x="771525" y="6378674"/>
            <a:ext cx="110394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 dirty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architecture relies on the MEAN stack. The client is built with Angular, communicating via REST APIs to a Node/Express backend connected to MongoDB.</a:t>
            </a:r>
            <a:endParaRPr dirty="0"/>
          </a:p>
        </p:txBody>
      </p:sp>
      <p:sp>
        <p:nvSpPr>
          <p:cNvPr id="253" name="Google Shape;253;p21"/>
          <p:cNvSpPr txBox="1"/>
          <p:nvPr/>
        </p:nvSpPr>
        <p:spPr>
          <a:xfrm>
            <a:off x="571500" y="1790700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WATCHERA is built upon the robust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MEAN Stack</a:t>
            </a:r>
            <a:r>
              <a:rPr lang="en-US" sz="16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architecture: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1047750" y="2800350"/>
            <a:ext cx="4429125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Client Side (Front-End):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Angular framework manages dynamic views, state, and user interactions, styled with Tailwind CSS.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1047750" y="4010025"/>
            <a:ext cx="4429125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Server Side (Back-End):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Node.js provides the runtime environment while Express.js handles RESTful API routing and CORS security.</a:t>
            </a:r>
            <a:endParaRPr/>
          </a:p>
        </p:txBody>
      </p:sp>
      <p:sp>
        <p:nvSpPr>
          <p:cNvPr id="256" name="Google Shape;256;p21"/>
          <p:cNvSpPr txBox="1"/>
          <p:nvPr/>
        </p:nvSpPr>
        <p:spPr>
          <a:xfrm>
            <a:off x="1047750" y="5219700"/>
            <a:ext cx="4429125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Database Layer: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MongoDB (Atlas) stores schema-less JSON documents, allowing scalable storage for complex product catalogs and user data.</a:t>
            </a:r>
            <a:endParaRPr/>
          </a:p>
        </p:txBody>
      </p:sp>
      <p:pic>
        <p:nvPicPr>
          <p:cNvPr id="257" name="Google Shape;25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28925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386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24827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ABDE94-3E58-C9DC-D397-4CFEC3E92F9D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5791200" y="571500"/>
            <a:ext cx="5829300" cy="5670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66;p22" descr="image.png">
            <a:extLst>
              <a:ext uri="{FF2B5EF4-FFF2-40B4-BE49-F238E27FC236}">
                <a16:creationId xmlns:a16="http://schemas.microsoft.com/office/drawing/2014/main" id="{A2B8A4CB-EE2E-6EA1-B368-D1D887D938B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38649" y="3533484"/>
            <a:ext cx="3314700" cy="2943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2950" y="147637"/>
            <a:ext cx="3314700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38650" y="147637"/>
            <a:ext cx="3314700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34350" y="147637"/>
            <a:ext cx="3314700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66925" y="442912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4557" y="6530633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2"/>
          <p:cNvSpPr txBox="1"/>
          <p:nvPr/>
        </p:nvSpPr>
        <p:spPr>
          <a:xfrm>
            <a:off x="1010679" y="6505283"/>
            <a:ext cx="110394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 dirty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Our tech stack includes Angular and Tailwind CSS for the frontend, Node.js and Express.js for backend processing, and MongoDB for scalable data storage.</a:t>
            </a:r>
            <a:endParaRPr dirty="0"/>
          </a:p>
        </p:txBody>
      </p:sp>
      <p:sp>
        <p:nvSpPr>
          <p:cNvPr id="271" name="Google Shape;271;p22"/>
          <p:cNvSpPr txBox="1"/>
          <p:nvPr/>
        </p:nvSpPr>
        <p:spPr>
          <a:xfrm>
            <a:off x="1902272" y="1300162"/>
            <a:ext cx="99590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Angular</a:t>
            </a:r>
            <a:endParaRPr/>
          </a:p>
        </p:txBody>
      </p:sp>
      <p:sp>
        <p:nvSpPr>
          <p:cNvPr id="272" name="Google Shape;272;p22"/>
          <p:cNvSpPr txBox="1"/>
          <p:nvPr/>
        </p:nvSpPr>
        <p:spPr>
          <a:xfrm>
            <a:off x="942975" y="2033587"/>
            <a:ext cx="29146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Component-based framework for scalable Single-Page Applications (SPA).</a:t>
            </a:r>
            <a:endParaRPr/>
          </a:p>
        </p:txBody>
      </p:sp>
      <p:pic>
        <p:nvPicPr>
          <p:cNvPr id="273" name="Google Shape;273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62625" y="442912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2"/>
          <p:cNvSpPr txBox="1"/>
          <p:nvPr/>
        </p:nvSpPr>
        <p:spPr>
          <a:xfrm>
            <a:off x="5126191" y="1300162"/>
            <a:ext cx="193961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 &amp; Express</a:t>
            </a:r>
            <a:endParaRPr/>
          </a:p>
        </p:txBody>
      </p:sp>
      <p:sp>
        <p:nvSpPr>
          <p:cNvPr id="275" name="Google Shape;275;p22"/>
          <p:cNvSpPr txBox="1"/>
          <p:nvPr/>
        </p:nvSpPr>
        <p:spPr>
          <a:xfrm>
            <a:off x="4638675" y="2033587"/>
            <a:ext cx="29146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Asynchronous runtime and minimalist framework for fast, secure REST APIs.</a:t>
            </a:r>
            <a:endParaRPr/>
          </a:p>
        </p:txBody>
      </p:sp>
      <p:pic>
        <p:nvPicPr>
          <p:cNvPr id="276" name="Google Shape;276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458325" y="442912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2"/>
          <p:cNvSpPr txBox="1"/>
          <p:nvPr/>
        </p:nvSpPr>
        <p:spPr>
          <a:xfrm>
            <a:off x="9177091" y="1300162"/>
            <a:ext cx="122921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MongoDB</a:t>
            </a:r>
            <a:endParaRPr/>
          </a:p>
        </p:txBody>
      </p:sp>
      <p:sp>
        <p:nvSpPr>
          <p:cNvPr id="278" name="Google Shape;278;p22"/>
          <p:cNvSpPr txBox="1"/>
          <p:nvPr/>
        </p:nvSpPr>
        <p:spPr>
          <a:xfrm>
            <a:off x="8334375" y="2033587"/>
            <a:ext cx="29146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Flexible NoSQL database perfect for managing dynamic product specifications.</a:t>
            </a:r>
            <a:endParaRPr/>
          </a:p>
        </p:txBody>
      </p:sp>
      <p:pic>
        <p:nvPicPr>
          <p:cNvPr id="279" name="Google Shape;279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62625" y="3855936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2"/>
          <p:cNvSpPr txBox="1"/>
          <p:nvPr/>
        </p:nvSpPr>
        <p:spPr>
          <a:xfrm>
            <a:off x="5279960" y="4741322"/>
            <a:ext cx="163207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Tailwind CSS</a:t>
            </a:r>
            <a:endParaRPr dirty="0"/>
          </a:p>
        </p:txBody>
      </p:sp>
      <p:sp>
        <p:nvSpPr>
          <p:cNvPr id="281" name="Google Shape;281;p22"/>
          <p:cNvSpPr txBox="1"/>
          <p:nvPr/>
        </p:nvSpPr>
        <p:spPr>
          <a:xfrm>
            <a:off x="4638675" y="5221526"/>
            <a:ext cx="29146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Utility-first framework to rapidly design a visually sophisticated, responsive UI.</a:t>
            </a:r>
            <a:endParaRPr dirty="0"/>
          </a:p>
        </p:txBody>
      </p:sp>
      <p:pic>
        <p:nvPicPr>
          <p:cNvPr id="282" name="Google Shape;282;p22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962650" y="623887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2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639300" y="623887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2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943600" y="4036911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2"/>
          <p:cNvSpPr txBox="1"/>
          <p:nvPr/>
        </p:nvSpPr>
        <p:spPr>
          <a:xfrm>
            <a:off x="571500" y="-890587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Technologies</a:t>
            </a:r>
            <a:endParaRPr/>
          </a:p>
        </p:txBody>
      </p:sp>
      <p:sp>
        <p:nvSpPr>
          <p:cNvPr id="286" name="Google Shape;286;p22"/>
          <p:cNvSpPr/>
          <p:nvPr/>
        </p:nvSpPr>
        <p:spPr>
          <a:xfrm>
            <a:off x="571500" y="-166687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C11617-F99C-50AE-AB19-798AA8A70E1D}"/>
              </a:ext>
            </a:extLst>
          </p:cNvPr>
          <p:cNvSpPr txBox="1"/>
          <p:nvPr/>
        </p:nvSpPr>
        <p:spPr>
          <a:xfrm>
            <a:off x="280574" y="72215"/>
            <a:ext cx="430471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Dataflow Diagram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941381-33A3-8F9B-8803-427F2AEE6B05}"/>
              </a:ext>
            </a:extLst>
          </p:cNvPr>
          <p:cNvGrpSpPr/>
          <p:nvPr/>
        </p:nvGrpSpPr>
        <p:grpSpPr>
          <a:xfrm>
            <a:off x="256591" y="672379"/>
            <a:ext cx="5839409" cy="5979813"/>
            <a:chOff x="0" y="0"/>
            <a:chExt cx="5839962" cy="598017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54E1F0F-ECDA-C845-2CDE-A691215F3BF4}"/>
                </a:ext>
              </a:extLst>
            </p:cNvPr>
            <p:cNvSpPr/>
            <p:nvPr/>
          </p:nvSpPr>
          <p:spPr>
            <a:xfrm>
              <a:off x="0" y="165294"/>
              <a:ext cx="52766" cy="17939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C2F741F-559F-8716-10FF-2BA43E4CF0CE}"/>
                </a:ext>
              </a:extLst>
            </p:cNvPr>
            <p:cNvSpPr/>
            <p:nvPr/>
          </p:nvSpPr>
          <p:spPr>
            <a:xfrm>
              <a:off x="0" y="494485"/>
              <a:ext cx="52766" cy="17939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A148D4F-1340-A30E-CEED-55C69FDD47CA}"/>
                </a:ext>
              </a:extLst>
            </p:cNvPr>
            <p:cNvSpPr/>
            <p:nvPr/>
          </p:nvSpPr>
          <p:spPr>
            <a:xfrm>
              <a:off x="0" y="825218"/>
              <a:ext cx="52766" cy="17939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064F07F-193E-16F4-6F2C-35A44B287792}"/>
                </a:ext>
              </a:extLst>
            </p:cNvPr>
            <p:cNvSpPr/>
            <p:nvPr/>
          </p:nvSpPr>
          <p:spPr>
            <a:xfrm>
              <a:off x="0" y="1154391"/>
              <a:ext cx="52766" cy="17939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66FBAE6-CAF7-9509-C065-DC13E9898AA5}"/>
                </a:ext>
              </a:extLst>
            </p:cNvPr>
            <p:cNvSpPr/>
            <p:nvPr/>
          </p:nvSpPr>
          <p:spPr>
            <a:xfrm>
              <a:off x="0" y="1485080"/>
              <a:ext cx="52766" cy="17939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9417766-F904-032A-ABC6-EB9520DC8483}"/>
                </a:ext>
              </a:extLst>
            </p:cNvPr>
            <p:cNvSpPr/>
            <p:nvPr/>
          </p:nvSpPr>
          <p:spPr>
            <a:xfrm>
              <a:off x="1289319" y="1814280"/>
              <a:ext cx="52766" cy="17939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B3D75E-8EED-6F87-785A-85559A4F0EBE}"/>
                </a:ext>
              </a:extLst>
            </p:cNvPr>
            <p:cNvSpPr/>
            <p:nvPr/>
          </p:nvSpPr>
          <p:spPr>
            <a:xfrm>
              <a:off x="1289319" y="2143437"/>
              <a:ext cx="52766" cy="17939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D4A8032-40BF-F592-F713-AD72FD348D1C}"/>
                </a:ext>
              </a:extLst>
            </p:cNvPr>
            <p:cNvSpPr/>
            <p:nvPr/>
          </p:nvSpPr>
          <p:spPr>
            <a:xfrm>
              <a:off x="0" y="2474168"/>
              <a:ext cx="52766" cy="17939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A15B4CD-D6E7-1D92-42EF-455878CA8666}"/>
                </a:ext>
              </a:extLst>
            </p:cNvPr>
            <p:cNvSpPr/>
            <p:nvPr/>
          </p:nvSpPr>
          <p:spPr>
            <a:xfrm>
              <a:off x="0" y="2638791"/>
              <a:ext cx="52766" cy="17939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55366CB-1B27-7888-1DF6-D465876AE7A1}"/>
                </a:ext>
              </a:extLst>
            </p:cNvPr>
            <p:cNvSpPr/>
            <p:nvPr/>
          </p:nvSpPr>
          <p:spPr>
            <a:xfrm>
              <a:off x="0" y="2803369"/>
              <a:ext cx="52766" cy="17939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0BE7A85-6328-BA2A-2BAA-CE1976D5D562}"/>
                </a:ext>
              </a:extLst>
            </p:cNvPr>
            <p:cNvSpPr/>
            <p:nvPr/>
          </p:nvSpPr>
          <p:spPr>
            <a:xfrm>
              <a:off x="0" y="2969436"/>
              <a:ext cx="52766" cy="17939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549D139-982F-9BC7-493B-8054457C02A4}"/>
                </a:ext>
              </a:extLst>
            </p:cNvPr>
            <p:cNvSpPr/>
            <p:nvPr/>
          </p:nvSpPr>
          <p:spPr>
            <a:xfrm>
              <a:off x="0" y="3134058"/>
              <a:ext cx="52766" cy="17939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2AFDD32-E702-1090-63D0-94FE302ADB4C}"/>
                </a:ext>
              </a:extLst>
            </p:cNvPr>
            <p:cNvSpPr/>
            <p:nvPr/>
          </p:nvSpPr>
          <p:spPr>
            <a:xfrm>
              <a:off x="0" y="3298636"/>
              <a:ext cx="52766" cy="17939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CE3D029-145E-EBE4-2EFD-C25D1AA8ADF8}"/>
                </a:ext>
              </a:extLst>
            </p:cNvPr>
            <p:cNvSpPr/>
            <p:nvPr/>
          </p:nvSpPr>
          <p:spPr>
            <a:xfrm>
              <a:off x="0" y="3464790"/>
              <a:ext cx="52766" cy="17939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59E2AB8-0D8B-A8C1-3FB4-4DAB7048FFB2}"/>
                </a:ext>
              </a:extLst>
            </p:cNvPr>
            <p:cNvSpPr/>
            <p:nvPr/>
          </p:nvSpPr>
          <p:spPr>
            <a:xfrm>
              <a:off x="0" y="3629369"/>
              <a:ext cx="52766" cy="17939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8640A2A-3FB4-1876-72C5-8EBE7349A37B}"/>
                </a:ext>
              </a:extLst>
            </p:cNvPr>
            <p:cNvSpPr/>
            <p:nvPr/>
          </p:nvSpPr>
          <p:spPr>
            <a:xfrm>
              <a:off x="0" y="3793946"/>
              <a:ext cx="52766" cy="17939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874931F-E0F7-3187-185A-D755FFB957F9}"/>
                </a:ext>
              </a:extLst>
            </p:cNvPr>
            <p:cNvSpPr/>
            <p:nvPr/>
          </p:nvSpPr>
          <p:spPr>
            <a:xfrm>
              <a:off x="0" y="3958568"/>
              <a:ext cx="52766" cy="17939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0A85AD4-B583-007E-D250-07A24FC99B06}"/>
                </a:ext>
              </a:extLst>
            </p:cNvPr>
            <p:cNvSpPr/>
            <p:nvPr/>
          </p:nvSpPr>
          <p:spPr>
            <a:xfrm>
              <a:off x="0" y="4124679"/>
              <a:ext cx="52766" cy="17939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84CD8C5-1834-DD63-7824-B3A731373178}"/>
                </a:ext>
              </a:extLst>
            </p:cNvPr>
            <p:cNvSpPr/>
            <p:nvPr/>
          </p:nvSpPr>
          <p:spPr>
            <a:xfrm>
              <a:off x="0" y="4289301"/>
              <a:ext cx="52766" cy="17939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7371D5B-F203-01A3-41B2-FDE53F483447}"/>
                </a:ext>
              </a:extLst>
            </p:cNvPr>
            <p:cNvSpPr/>
            <p:nvPr/>
          </p:nvSpPr>
          <p:spPr>
            <a:xfrm>
              <a:off x="0" y="4453879"/>
              <a:ext cx="52766" cy="17939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4DF10C3-17B7-8878-34E9-8BEB2E83FE2B}"/>
                </a:ext>
              </a:extLst>
            </p:cNvPr>
            <p:cNvSpPr/>
            <p:nvPr/>
          </p:nvSpPr>
          <p:spPr>
            <a:xfrm>
              <a:off x="0" y="4619946"/>
              <a:ext cx="52766" cy="17939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3D366E6-81C5-392A-193B-08A77D008B3A}"/>
                </a:ext>
              </a:extLst>
            </p:cNvPr>
            <p:cNvSpPr/>
            <p:nvPr/>
          </p:nvSpPr>
          <p:spPr>
            <a:xfrm>
              <a:off x="0" y="4784567"/>
              <a:ext cx="52766" cy="17939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138071D-8166-D90F-8DC7-690FAA32CFCA}"/>
                </a:ext>
              </a:extLst>
            </p:cNvPr>
            <p:cNvSpPr/>
            <p:nvPr/>
          </p:nvSpPr>
          <p:spPr>
            <a:xfrm>
              <a:off x="0" y="4949145"/>
              <a:ext cx="52766" cy="17939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E0720B5-17EE-A239-9675-9C7330EFC5DD}"/>
                </a:ext>
              </a:extLst>
            </p:cNvPr>
            <p:cNvSpPr/>
            <p:nvPr/>
          </p:nvSpPr>
          <p:spPr>
            <a:xfrm>
              <a:off x="0" y="5113725"/>
              <a:ext cx="52766" cy="17939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EA0F0E2-E507-F5AB-8CE5-F592B4492D97}"/>
                </a:ext>
              </a:extLst>
            </p:cNvPr>
            <p:cNvSpPr/>
            <p:nvPr/>
          </p:nvSpPr>
          <p:spPr>
            <a:xfrm>
              <a:off x="0" y="5279878"/>
              <a:ext cx="52766" cy="17939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8BD5A38-AC4C-8AC0-FD62-A4C13C7939A0}"/>
                </a:ext>
              </a:extLst>
            </p:cNvPr>
            <p:cNvSpPr/>
            <p:nvPr/>
          </p:nvSpPr>
          <p:spPr>
            <a:xfrm>
              <a:off x="0" y="5444456"/>
              <a:ext cx="52766" cy="17939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6149216-A6D7-5F67-0858-2044378CEF81}"/>
                </a:ext>
              </a:extLst>
            </p:cNvPr>
            <p:cNvSpPr/>
            <p:nvPr/>
          </p:nvSpPr>
          <p:spPr>
            <a:xfrm>
              <a:off x="0" y="5609079"/>
              <a:ext cx="52766" cy="17939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4EB6A96-A4FE-6A6F-8AF7-866BBF27EBC2}"/>
                </a:ext>
              </a:extLst>
            </p:cNvPr>
            <p:cNvSpPr/>
            <p:nvPr/>
          </p:nvSpPr>
          <p:spPr>
            <a:xfrm>
              <a:off x="0" y="5775145"/>
              <a:ext cx="52766" cy="17939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32" name="Shape 2909">
              <a:extLst>
                <a:ext uri="{FF2B5EF4-FFF2-40B4-BE49-F238E27FC236}">
                  <a16:creationId xmlns:a16="http://schemas.microsoft.com/office/drawing/2014/main" id="{BE648878-CA76-EE3F-DF57-F9A2059ECA99}"/>
                </a:ext>
              </a:extLst>
            </p:cNvPr>
            <p:cNvSpPr/>
            <p:nvPr/>
          </p:nvSpPr>
          <p:spPr>
            <a:xfrm>
              <a:off x="2423154" y="0"/>
              <a:ext cx="3416808" cy="5980176"/>
            </a:xfrm>
            <a:custGeom>
              <a:avLst/>
              <a:gdLst/>
              <a:ahLst/>
              <a:cxnLst/>
              <a:rect l="0" t="0" r="0" b="0"/>
              <a:pathLst>
                <a:path w="3416808" h="5980176">
                  <a:moveTo>
                    <a:pt x="0" y="568452"/>
                  </a:moveTo>
                  <a:cubicBezTo>
                    <a:pt x="0" y="254508"/>
                    <a:pt x="254508" y="0"/>
                    <a:pt x="568452" y="0"/>
                  </a:cubicBezTo>
                  <a:lnTo>
                    <a:pt x="2846832" y="0"/>
                  </a:lnTo>
                  <a:cubicBezTo>
                    <a:pt x="3162300" y="0"/>
                    <a:pt x="3416808" y="254508"/>
                    <a:pt x="3416808" y="568452"/>
                  </a:cubicBezTo>
                  <a:lnTo>
                    <a:pt x="3416808" y="5410200"/>
                  </a:lnTo>
                  <a:cubicBezTo>
                    <a:pt x="3416808" y="5725669"/>
                    <a:pt x="3162300" y="5980176"/>
                    <a:pt x="2846832" y="5980176"/>
                  </a:cubicBezTo>
                  <a:lnTo>
                    <a:pt x="568452" y="5980176"/>
                  </a:lnTo>
                  <a:cubicBezTo>
                    <a:pt x="254508" y="5980176"/>
                    <a:pt x="0" y="5725669"/>
                    <a:pt x="0" y="5410200"/>
                  </a:cubicBezTo>
                  <a:close/>
                </a:path>
              </a:pathLst>
            </a:custGeom>
            <a:ln w="12192" cap="flat">
              <a:miter lim="1016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F156439D-5D51-2E9B-FEAA-C96579AC0CC6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50513" y="1863853"/>
              <a:ext cx="832104" cy="2599944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DBB0BDC4-462D-1092-E3AA-50BF4A8752F1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2673598" y="349504"/>
              <a:ext cx="2849880" cy="387096"/>
            </a:xfrm>
            <a:prstGeom prst="rect">
              <a:avLst/>
            </a:prstGeom>
          </p:spPr>
        </p:pic>
        <p:sp>
          <p:nvSpPr>
            <p:cNvPr id="35" name="Shape 2914">
              <a:extLst>
                <a:ext uri="{FF2B5EF4-FFF2-40B4-BE49-F238E27FC236}">
                  <a16:creationId xmlns:a16="http://schemas.microsoft.com/office/drawing/2014/main" id="{D7D04FEC-3CB3-9A39-70F8-6E6F22058C67}"/>
                </a:ext>
              </a:extLst>
            </p:cNvPr>
            <p:cNvSpPr/>
            <p:nvPr/>
          </p:nvSpPr>
          <p:spPr>
            <a:xfrm>
              <a:off x="2676138" y="353568"/>
              <a:ext cx="2848356" cy="384048"/>
            </a:xfrm>
            <a:custGeom>
              <a:avLst/>
              <a:gdLst/>
              <a:ahLst/>
              <a:cxnLst/>
              <a:rect l="0" t="0" r="0" b="0"/>
              <a:pathLst>
                <a:path w="2848356" h="384048">
                  <a:moveTo>
                    <a:pt x="0" y="192024"/>
                  </a:moveTo>
                  <a:cubicBezTo>
                    <a:pt x="0" y="86868"/>
                    <a:pt x="638556" y="0"/>
                    <a:pt x="1424940" y="0"/>
                  </a:cubicBezTo>
                  <a:cubicBezTo>
                    <a:pt x="2211324" y="0"/>
                    <a:pt x="2848356" y="86868"/>
                    <a:pt x="2848356" y="192024"/>
                  </a:cubicBezTo>
                  <a:cubicBezTo>
                    <a:pt x="2848356" y="298704"/>
                    <a:pt x="2211324" y="384048"/>
                    <a:pt x="1424940" y="384048"/>
                  </a:cubicBezTo>
                  <a:cubicBezTo>
                    <a:pt x="638556" y="384048"/>
                    <a:pt x="0" y="298704"/>
                    <a:pt x="0" y="192024"/>
                  </a:cubicBezTo>
                </a:path>
              </a:pathLst>
            </a:custGeom>
            <a:ln w="6096" cap="flat">
              <a:miter lim="101600"/>
            </a:ln>
          </p:spPr>
          <p:style>
            <a:lnRef idx="1">
              <a:srgbClr val="A5A5A5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1434C76-C63B-54D0-0273-C771D1C36AA8}"/>
                </a:ext>
              </a:extLst>
            </p:cNvPr>
            <p:cNvSpPr/>
            <p:nvPr/>
          </p:nvSpPr>
          <p:spPr>
            <a:xfrm>
              <a:off x="3170274" y="497919"/>
              <a:ext cx="1783763" cy="17061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Login</a:t>
              </a:r>
              <a:r>
                <a:rPr lang="en-IN" sz="1150" kern="100" spc="1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IN" sz="115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/</a:t>
              </a:r>
              <a:r>
                <a:rPr lang="en-IN" sz="1150" kern="100" spc="5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IN" sz="115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Registration </a:t>
              </a: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D9320A5C-B469-4258-4FAE-5445C6613E97}"/>
                </a:ext>
              </a:extLst>
            </p:cNvPr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2679694" y="860553"/>
              <a:ext cx="2849880" cy="387096"/>
            </a:xfrm>
            <a:prstGeom prst="rect">
              <a:avLst/>
            </a:prstGeom>
          </p:spPr>
        </p:pic>
        <p:sp>
          <p:nvSpPr>
            <p:cNvPr id="38" name="Shape 2918">
              <a:extLst>
                <a:ext uri="{FF2B5EF4-FFF2-40B4-BE49-F238E27FC236}">
                  <a16:creationId xmlns:a16="http://schemas.microsoft.com/office/drawing/2014/main" id="{028B01C9-E94D-975D-2351-A41F98A2F87A}"/>
                </a:ext>
              </a:extLst>
            </p:cNvPr>
            <p:cNvSpPr/>
            <p:nvPr/>
          </p:nvSpPr>
          <p:spPr>
            <a:xfrm>
              <a:off x="2682234" y="862584"/>
              <a:ext cx="2848356" cy="384048"/>
            </a:xfrm>
            <a:custGeom>
              <a:avLst/>
              <a:gdLst/>
              <a:ahLst/>
              <a:cxnLst/>
              <a:rect l="0" t="0" r="0" b="0"/>
              <a:pathLst>
                <a:path w="2848356" h="384048">
                  <a:moveTo>
                    <a:pt x="0" y="192024"/>
                  </a:moveTo>
                  <a:cubicBezTo>
                    <a:pt x="0" y="86868"/>
                    <a:pt x="637032" y="0"/>
                    <a:pt x="1423416" y="0"/>
                  </a:cubicBezTo>
                  <a:cubicBezTo>
                    <a:pt x="2209800" y="0"/>
                    <a:pt x="2848356" y="86868"/>
                    <a:pt x="2848356" y="192024"/>
                  </a:cubicBezTo>
                  <a:cubicBezTo>
                    <a:pt x="2848356" y="298704"/>
                    <a:pt x="2209800" y="384048"/>
                    <a:pt x="1423416" y="384048"/>
                  </a:cubicBezTo>
                  <a:cubicBezTo>
                    <a:pt x="637032" y="384048"/>
                    <a:pt x="0" y="298704"/>
                    <a:pt x="0" y="192024"/>
                  </a:cubicBezTo>
                </a:path>
              </a:pathLst>
            </a:custGeom>
            <a:ln w="6096" cap="flat">
              <a:miter lim="101600"/>
            </a:ln>
          </p:spPr>
          <p:style>
            <a:lnRef idx="1">
              <a:srgbClr val="A5A5A5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B3BC5DD-4868-FCA1-B158-7BE4146B885B}"/>
                </a:ext>
              </a:extLst>
            </p:cNvPr>
            <p:cNvSpPr/>
            <p:nvPr/>
          </p:nvSpPr>
          <p:spPr>
            <a:xfrm>
              <a:off x="3224056" y="1006981"/>
              <a:ext cx="1529673" cy="201045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Browse</a:t>
              </a:r>
              <a:r>
                <a:rPr lang="en-IN" sz="1150" kern="100" spc="-5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IN" sz="115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Products </a:t>
              </a:r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90E0BB55-3AE9-40F6-280F-BF604CC77BB5}"/>
                </a:ext>
              </a:extLst>
            </p:cNvPr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2718302" y="1444753"/>
              <a:ext cx="2852928" cy="384048"/>
            </a:xfrm>
            <a:prstGeom prst="rect">
              <a:avLst/>
            </a:prstGeom>
          </p:spPr>
        </p:pic>
        <p:sp>
          <p:nvSpPr>
            <p:cNvPr id="41" name="Shape 2922">
              <a:extLst>
                <a:ext uri="{FF2B5EF4-FFF2-40B4-BE49-F238E27FC236}">
                  <a16:creationId xmlns:a16="http://schemas.microsoft.com/office/drawing/2014/main" id="{B68E8BAC-410C-C366-A366-E88BB272BC74}"/>
                </a:ext>
              </a:extLst>
            </p:cNvPr>
            <p:cNvSpPr/>
            <p:nvPr/>
          </p:nvSpPr>
          <p:spPr>
            <a:xfrm>
              <a:off x="2721858" y="1446277"/>
              <a:ext cx="2848356" cy="384048"/>
            </a:xfrm>
            <a:custGeom>
              <a:avLst/>
              <a:gdLst/>
              <a:ahLst/>
              <a:cxnLst/>
              <a:rect l="0" t="0" r="0" b="0"/>
              <a:pathLst>
                <a:path w="2848356" h="384048">
                  <a:moveTo>
                    <a:pt x="0" y="192024"/>
                  </a:moveTo>
                  <a:cubicBezTo>
                    <a:pt x="0" y="86868"/>
                    <a:pt x="638556" y="0"/>
                    <a:pt x="1424940" y="0"/>
                  </a:cubicBezTo>
                  <a:cubicBezTo>
                    <a:pt x="2211324" y="0"/>
                    <a:pt x="2848356" y="86868"/>
                    <a:pt x="2848356" y="192024"/>
                  </a:cubicBezTo>
                  <a:cubicBezTo>
                    <a:pt x="2848356" y="298704"/>
                    <a:pt x="2211324" y="384048"/>
                    <a:pt x="1424940" y="384048"/>
                  </a:cubicBezTo>
                  <a:cubicBezTo>
                    <a:pt x="638556" y="384048"/>
                    <a:pt x="0" y="298704"/>
                    <a:pt x="0" y="192024"/>
                  </a:cubicBezTo>
                </a:path>
              </a:pathLst>
            </a:custGeom>
            <a:ln w="6096" cap="flat">
              <a:miter lim="101600"/>
            </a:ln>
          </p:spPr>
          <p:style>
            <a:lnRef idx="1">
              <a:srgbClr val="A5A5A5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1670DD9-586F-CA42-C444-0DFAFE658784}"/>
                </a:ext>
              </a:extLst>
            </p:cNvPr>
            <p:cNvSpPr/>
            <p:nvPr/>
          </p:nvSpPr>
          <p:spPr>
            <a:xfrm>
              <a:off x="3268763" y="1590650"/>
              <a:ext cx="1443558" cy="20157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Search Products</a:t>
              </a:r>
              <a:r>
                <a:rPr lang="en-IN" sz="1150" kern="100" spc="1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en-IN" sz="115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AC758352-4F4C-9429-3BFE-9F4483FB465C}"/>
                </a:ext>
              </a:extLst>
            </p:cNvPr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2733542" y="1994409"/>
              <a:ext cx="2849880" cy="387096"/>
            </a:xfrm>
            <a:prstGeom prst="rect">
              <a:avLst/>
            </a:prstGeom>
          </p:spPr>
        </p:pic>
        <p:sp>
          <p:nvSpPr>
            <p:cNvPr id="44" name="Shape 2926">
              <a:extLst>
                <a:ext uri="{FF2B5EF4-FFF2-40B4-BE49-F238E27FC236}">
                  <a16:creationId xmlns:a16="http://schemas.microsoft.com/office/drawing/2014/main" id="{3E8839DA-90E7-ACDD-8980-DE14A0EFC06B}"/>
                </a:ext>
              </a:extLst>
            </p:cNvPr>
            <p:cNvSpPr/>
            <p:nvPr/>
          </p:nvSpPr>
          <p:spPr>
            <a:xfrm>
              <a:off x="2735574" y="1996441"/>
              <a:ext cx="2848356" cy="384048"/>
            </a:xfrm>
            <a:custGeom>
              <a:avLst/>
              <a:gdLst/>
              <a:ahLst/>
              <a:cxnLst/>
              <a:rect l="0" t="0" r="0" b="0"/>
              <a:pathLst>
                <a:path w="2848356" h="384048">
                  <a:moveTo>
                    <a:pt x="0" y="192024"/>
                  </a:moveTo>
                  <a:cubicBezTo>
                    <a:pt x="0" y="85344"/>
                    <a:pt x="638556" y="0"/>
                    <a:pt x="1424940" y="0"/>
                  </a:cubicBezTo>
                  <a:cubicBezTo>
                    <a:pt x="2211324" y="0"/>
                    <a:pt x="2848356" y="85344"/>
                    <a:pt x="2848356" y="192024"/>
                  </a:cubicBezTo>
                  <a:cubicBezTo>
                    <a:pt x="2848356" y="298704"/>
                    <a:pt x="2211324" y="384048"/>
                    <a:pt x="1424940" y="384048"/>
                  </a:cubicBezTo>
                  <a:cubicBezTo>
                    <a:pt x="638556" y="384048"/>
                    <a:pt x="0" y="298704"/>
                    <a:pt x="0" y="192024"/>
                  </a:cubicBezTo>
                </a:path>
              </a:pathLst>
            </a:custGeom>
            <a:ln w="6096" cap="flat">
              <a:miter lim="101600"/>
            </a:ln>
          </p:spPr>
          <p:style>
            <a:lnRef idx="1">
              <a:srgbClr val="A5A5A5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97CE8EB-1AF9-A18D-2B53-E83DA73D9324}"/>
                </a:ext>
              </a:extLst>
            </p:cNvPr>
            <p:cNvSpPr/>
            <p:nvPr/>
          </p:nvSpPr>
          <p:spPr>
            <a:xfrm>
              <a:off x="3139641" y="2140792"/>
              <a:ext cx="1826374" cy="15029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View</a:t>
              </a:r>
              <a:r>
                <a:rPr lang="en-IN" sz="1150" kern="100" spc="-5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IN" sz="115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Product</a:t>
              </a:r>
              <a:r>
                <a:rPr lang="en-IN" sz="1150" kern="100" spc="5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IN" sz="115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Details </a:t>
              </a:r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4A815C71-DA89-B018-E2BD-61C86E3FAB52}"/>
                </a:ext>
              </a:extLst>
            </p:cNvPr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2772150" y="2543048"/>
              <a:ext cx="2849880" cy="387096"/>
            </a:xfrm>
            <a:prstGeom prst="rect">
              <a:avLst/>
            </a:prstGeom>
          </p:spPr>
        </p:pic>
        <p:sp>
          <p:nvSpPr>
            <p:cNvPr id="47" name="Shape 2930">
              <a:extLst>
                <a:ext uri="{FF2B5EF4-FFF2-40B4-BE49-F238E27FC236}">
                  <a16:creationId xmlns:a16="http://schemas.microsoft.com/office/drawing/2014/main" id="{3AD4D1D6-1F63-2565-1CD9-58BA50634E37}"/>
                </a:ext>
              </a:extLst>
            </p:cNvPr>
            <p:cNvSpPr/>
            <p:nvPr/>
          </p:nvSpPr>
          <p:spPr>
            <a:xfrm>
              <a:off x="2775198" y="2546605"/>
              <a:ext cx="2848356" cy="384048"/>
            </a:xfrm>
            <a:custGeom>
              <a:avLst/>
              <a:gdLst/>
              <a:ahLst/>
              <a:cxnLst/>
              <a:rect l="0" t="0" r="0" b="0"/>
              <a:pathLst>
                <a:path w="2848356" h="384048">
                  <a:moveTo>
                    <a:pt x="0" y="192024"/>
                  </a:moveTo>
                  <a:cubicBezTo>
                    <a:pt x="0" y="86868"/>
                    <a:pt x="637032" y="0"/>
                    <a:pt x="1424940" y="0"/>
                  </a:cubicBezTo>
                  <a:cubicBezTo>
                    <a:pt x="2211324" y="0"/>
                    <a:pt x="2848356" y="86868"/>
                    <a:pt x="2848356" y="192024"/>
                  </a:cubicBezTo>
                  <a:cubicBezTo>
                    <a:pt x="2848356" y="298704"/>
                    <a:pt x="2211324" y="384048"/>
                    <a:pt x="1424940" y="384048"/>
                  </a:cubicBezTo>
                  <a:cubicBezTo>
                    <a:pt x="637032" y="384048"/>
                    <a:pt x="0" y="298704"/>
                    <a:pt x="0" y="192024"/>
                  </a:cubicBezTo>
                </a:path>
              </a:pathLst>
            </a:custGeom>
            <a:ln w="6096" cap="flat">
              <a:miter lim="101600"/>
            </a:ln>
          </p:spPr>
          <p:style>
            <a:lnRef idx="1">
              <a:srgbClr val="A5A5A5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8332A182-33AB-2E1C-F335-362910D14BF8}"/>
                </a:ext>
              </a:extLst>
            </p:cNvPr>
            <p:cNvSpPr/>
            <p:nvPr/>
          </p:nvSpPr>
          <p:spPr>
            <a:xfrm>
              <a:off x="3406953" y="2690976"/>
              <a:ext cx="1190971" cy="184305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Add</a:t>
              </a:r>
              <a:r>
                <a:rPr lang="en-IN" sz="1150" kern="100" spc="1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IN" sz="115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to Cart</a:t>
              </a:r>
              <a:r>
                <a:rPr lang="en-IN" sz="1150" kern="100" spc="5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en-IN" sz="115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E0ACE3ED-0779-0E5B-0A94-7B20DC90F85D}"/>
                </a:ext>
              </a:extLst>
            </p:cNvPr>
            <p:cNvPicPr/>
            <p:nvPr/>
          </p:nvPicPr>
          <p:blipFill>
            <a:blip r:embed="rId8"/>
            <a:stretch>
              <a:fillRect/>
            </a:stretch>
          </p:blipFill>
          <p:spPr>
            <a:xfrm>
              <a:off x="2758942" y="4258057"/>
              <a:ext cx="2849880" cy="387096"/>
            </a:xfrm>
            <a:prstGeom prst="rect">
              <a:avLst/>
            </a:prstGeom>
          </p:spPr>
        </p:pic>
        <p:sp>
          <p:nvSpPr>
            <p:cNvPr id="50" name="Shape 2934">
              <a:extLst>
                <a:ext uri="{FF2B5EF4-FFF2-40B4-BE49-F238E27FC236}">
                  <a16:creationId xmlns:a16="http://schemas.microsoft.com/office/drawing/2014/main" id="{FC2E217B-EFAC-D9BE-631C-211ABD7557AF}"/>
                </a:ext>
              </a:extLst>
            </p:cNvPr>
            <p:cNvSpPr/>
            <p:nvPr/>
          </p:nvSpPr>
          <p:spPr>
            <a:xfrm>
              <a:off x="2761482" y="4261105"/>
              <a:ext cx="2848356" cy="384048"/>
            </a:xfrm>
            <a:custGeom>
              <a:avLst/>
              <a:gdLst/>
              <a:ahLst/>
              <a:cxnLst/>
              <a:rect l="0" t="0" r="0" b="0"/>
              <a:pathLst>
                <a:path w="2848356" h="384048">
                  <a:moveTo>
                    <a:pt x="0" y="192024"/>
                  </a:moveTo>
                  <a:cubicBezTo>
                    <a:pt x="0" y="85344"/>
                    <a:pt x="638556" y="0"/>
                    <a:pt x="1424940" y="0"/>
                  </a:cubicBezTo>
                  <a:cubicBezTo>
                    <a:pt x="2211324" y="0"/>
                    <a:pt x="2848356" y="85344"/>
                    <a:pt x="2848356" y="192024"/>
                  </a:cubicBezTo>
                  <a:cubicBezTo>
                    <a:pt x="2848356" y="297180"/>
                    <a:pt x="2211324" y="384048"/>
                    <a:pt x="1424940" y="384048"/>
                  </a:cubicBezTo>
                  <a:cubicBezTo>
                    <a:pt x="638556" y="384048"/>
                    <a:pt x="0" y="297180"/>
                    <a:pt x="0" y="192024"/>
                  </a:cubicBezTo>
                </a:path>
              </a:pathLst>
            </a:custGeom>
            <a:ln w="6096" cap="flat">
              <a:miter lim="101600"/>
            </a:ln>
          </p:spPr>
          <p:style>
            <a:lnRef idx="1">
              <a:srgbClr val="A5A5A5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CCF39A4-1A92-9FFE-2C5F-594FB9C72E9C}"/>
                </a:ext>
              </a:extLst>
            </p:cNvPr>
            <p:cNvSpPr/>
            <p:nvPr/>
          </p:nvSpPr>
          <p:spPr>
            <a:xfrm>
              <a:off x="3313832" y="4403980"/>
              <a:ext cx="1398430" cy="13855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Make</a:t>
              </a:r>
              <a:r>
                <a:rPr lang="en-IN" sz="1150" kern="100" spc="-5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IN" sz="115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Payment</a:t>
              </a:r>
              <a:r>
                <a:rPr lang="en-IN" sz="1150" kern="100" spc="5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en-IN" sz="115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FCE9B371-F164-5A0D-5844-243109BBCAC1}"/>
                </a:ext>
              </a:extLst>
            </p:cNvPr>
            <p:cNvPicPr/>
            <p:nvPr/>
          </p:nvPicPr>
          <p:blipFill>
            <a:blip r:embed="rId9"/>
            <a:stretch>
              <a:fillRect/>
            </a:stretch>
          </p:blipFill>
          <p:spPr>
            <a:xfrm>
              <a:off x="2765038" y="4794504"/>
              <a:ext cx="2852929" cy="387097"/>
            </a:xfrm>
            <a:prstGeom prst="rect">
              <a:avLst/>
            </a:prstGeom>
          </p:spPr>
        </p:pic>
        <p:sp>
          <p:nvSpPr>
            <p:cNvPr id="53" name="Shape 2938">
              <a:extLst>
                <a:ext uri="{FF2B5EF4-FFF2-40B4-BE49-F238E27FC236}">
                  <a16:creationId xmlns:a16="http://schemas.microsoft.com/office/drawing/2014/main" id="{F805B09F-0ACE-FA50-C3FC-C57DB23DFF40}"/>
                </a:ext>
              </a:extLst>
            </p:cNvPr>
            <p:cNvSpPr/>
            <p:nvPr/>
          </p:nvSpPr>
          <p:spPr>
            <a:xfrm>
              <a:off x="2769102" y="4797552"/>
              <a:ext cx="2848356" cy="384048"/>
            </a:xfrm>
            <a:custGeom>
              <a:avLst/>
              <a:gdLst/>
              <a:ahLst/>
              <a:cxnLst/>
              <a:rect l="0" t="0" r="0" b="0"/>
              <a:pathLst>
                <a:path w="2848356" h="384048">
                  <a:moveTo>
                    <a:pt x="0" y="192024"/>
                  </a:moveTo>
                  <a:cubicBezTo>
                    <a:pt x="0" y="86868"/>
                    <a:pt x="638556" y="0"/>
                    <a:pt x="1424940" y="0"/>
                  </a:cubicBezTo>
                  <a:cubicBezTo>
                    <a:pt x="2211324" y="0"/>
                    <a:pt x="2848356" y="86868"/>
                    <a:pt x="2848356" y="192024"/>
                  </a:cubicBezTo>
                  <a:cubicBezTo>
                    <a:pt x="2848356" y="298704"/>
                    <a:pt x="2211324" y="384048"/>
                    <a:pt x="1424940" y="384048"/>
                  </a:cubicBezTo>
                  <a:cubicBezTo>
                    <a:pt x="638556" y="384048"/>
                    <a:pt x="0" y="298704"/>
                    <a:pt x="0" y="192024"/>
                  </a:cubicBezTo>
                </a:path>
              </a:pathLst>
            </a:custGeom>
            <a:ln w="6096" cap="flat">
              <a:miter lim="101600"/>
            </a:ln>
          </p:spPr>
          <p:style>
            <a:lnRef idx="1">
              <a:srgbClr val="A5A5A5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3989D1D-41B2-1B1C-272A-926AC05C660C}"/>
                </a:ext>
              </a:extLst>
            </p:cNvPr>
            <p:cNvSpPr/>
            <p:nvPr/>
          </p:nvSpPr>
          <p:spPr>
            <a:xfrm>
              <a:off x="3325036" y="4941946"/>
              <a:ext cx="1455740" cy="171779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Manage</a:t>
              </a:r>
              <a:r>
                <a:rPr lang="en-IN" sz="1150" kern="100" spc="-5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IN" sz="115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Profile</a:t>
              </a:r>
              <a:r>
                <a:rPr lang="en-IN" sz="1150" kern="100" spc="5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en-IN" sz="115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074195F6-A89D-A85B-2E80-C59B887C296E}"/>
                </a:ext>
              </a:extLst>
            </p:cNvPr>
            <p:cNvPicPr/>
            <p:nvPr/>
          </p:nvPicPr>
          <p:blipFill>
            <a:blip r:embed="rId10"/>
            <a:stretch>
              <a:fillRect/>
            </a:stretch>
          </p:blipFill>
          <p:spPr>
            <a:xfrm>
              <a:off x="2778246" y="3705352"/>
              <a:ext cx="2849880" cy="387097"/>
            </a:xfrm>
            <a:prstGeom prst="rect">
              <a:avLst/>
            </a:prstGeom>
          </p:spPr>
        </p:pic>
        <p:sp>
          <p:nvSpPr>
            <p:cNvPr id="56" name="Shape 2942">
              <a:extLst>
                <a:ext uri="{FF2B5EF4-FFF2-40B4-BE49-F238E27FC236}">
                  <a16:creationId xmlns:a16="http://schemas.microsoft.com/office/drawing/2014/main" id="{82DA5243-6E30-05A5-2BFA-9F6D7DC3136C}"/>
                </a:ext>
              </a:extLst>
            </p:cNvPr>
            <p:cNvSpPr/>
            <p:nvPr/>
          </p:nvSpPr>
          <p:spPr>
            <a:xfrm>
              <a:off x="2779770" y="3707892"/>
              <a:ext cx="2848356" cy="384048"/>
            </a:xfrm>
            <a:custGeom>
              <a:avLst/>
              <a:gdLst/>
              <a:ahLst/>
              <a:cxnLst/>
              <a:rect l="0" t="0" r="0" b="0"/>
              <a:pathLst>
                <a:path w="2848356" h="384048">
                  <a:moveTo>
                    <a:pt x="0" y="192024"/>
                  </a:moveTo>
                  <a:cubicBezTo>
                    <a:pt x="0" y="86868"/>
                    <a:pt x="637032" y="0"/>
                    <a:pt x="1423416" y="0"/>
                  </a:cubicBezTo>
                  <a:cubicBezTo>
                    <a:pt x="2209800" y="0"/>
                    <a:pt x="2848356" y="86868"/>
                    <a:pt x="2848356" y="192024"/>
                  </a:cubicBezTo>
                  <a:cubicBezTo>
                    <a:pt x="2848356" y="298704"/>
                    <a:pt x="2209800" y="384048"/>
                    <a:pt x="1423416" y="384048"/>
                  </a:cubicBezTo>
                  <a:cubicBezTo>
                    <a:pt x="637032" y="384048"/>
                    <a:pt x="0" y="298704"/>
                    <a:pt x="0" y="192024"/>
                  </a:cubicBezTo>
                </a:path>
              </a:pathLst>
            </a:custGeom>
            <a:ln w="6096" cap="flat">
              <a:miter lim="101600"/>
            </a:ln>
          </p:spPr>
          <p:style>
            <a:lnRef idx="1">
              <a:srgbClr val="A5A5A5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9D497DEB-53ED-D089-D163-71147B97DA0C}"/>
                </a:ext>
              </a:extLst>
            </p:cNvPr>
            <p:cNvSpPr/>
            <p:nvPr/>
          </p:nvSpPr>
          <p:spPr>
            <a:xfrm>
              <a:off x="3435091" y="3852263"/>
              <a:ext cx="1089638" cy="15382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Checkout</a:t>
              </a:r>
              <a:r>
                <a:rPr lang="en-IN" sz="1150" kern="100" spc="5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en-IN" sz="115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B5CF5E40-9926-1D58-C13A-8FF694207FF6}"/>
                </a:ext>
              </a:extLst>
            </p:cNvPr>
            <p:cNvPicPr/>
            <p:nvPr/>
          </p:nvPicPr>
          <p:blipFill>
            <a:blip r:embed="rId11"/>
            <a:stretch>
              <a:fillRect/>
            </a:stretch>
          </p:blipFill>
          <p:spPr>
            <a:xfrm>
              <a:off x="2769102" y="5341112"/>
              <a:ext cx="2849880" cy="387097"/>
            </a:xfrm>
            <a:prstGeom prst="rect">
              <a:avLst/>
            </a:prstGeom>
          </p:spPr>
        </p:pic>
        <p:sp>
          <p:nvSpPr>
            <p:cNvPr id="59" name="Shape 2946">
              <a:extLst>
                <a:ext uri="{FF2B5EF4-FFF2-40B4-BE49-F238E27FC236}">
                  <a16:creationId xmlns:a16="http://schemas.microsoft.com/office/drawing/2014/main" id="{9F249FAC-24B4-B7A7-AEAA-C08A1A0CC47A}"/>
                </a:ext>
              </a:extLst>
            </p:cNvPr>
            <p:cNvSpPr/>
            <p:nvPr/>
          </p:nvSpPr>
          <p:spPr>
            <a:xfrm>
              <a:off x="2772150" y="5344669"/>
              <a:ext cx="2848356" cy="384048"/>
            </a:xfrm>
            <a:custGeom>
              <a:avLst/>
              <a:gdLst/>
              <a:ahLst/>
              <a:cxnLst/>
              <a:rect l="0" t="0" r="0" b="0"/>
              <a:pathLst>
                <a:path w="2848356" h="384048">
                  <a:moveTo>
                    <a:pt x="0" y="192024"/>
                  </a:moveTo>
                  <a:cubicBezTo>
                    <a:pt x="0" y="85344"/>
                    <a:pt x="638556" y="0"/>
                    <a:pt x="1424940" y="0"/>
                  </a:cubicBezTo>
                  <a:cubicBezTo>
                    <a:pt x="2211324" y="0"/>
                    <a:pt x="2848356" y="85344"/>
                    <a:pt x="2848356" y="192024"/>
                  </a:cubicBezTo>
                  <a:cubicBezTo>
                    <a:pt x="2848356" y="297180"/>
                    <a:pt x="2211324" y="384048"/>
                    <a:pt x="1424940" y="384048"/>
                  </a:cubicBezTo>
                  <a:cubicBezTo>
                    <a:pt x="638556" y="384048"/>
                    <a:pt x="0" y="297180"/>
                    <a:pt x="0" y="192024"/>
                  </a:cubicBezTo>
                </a:path>
              </a:pathLst>
            </a:custGeom>
            <a:ln w="6096" cap="flat">
              <a:miter lim="101600"/>
            </a:ln>
          </p:spPr>
          <p:style>
            <a:lnRef idx="1">
              <a:srgbClr val="A5A5A5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7B0B1160-CC31-43EA-7092-61EA007DCAC3}"/>
                </a:ext>
              </a:extLst>
            </p:cNvPr>
            <p:cNvSpPr/>
            <p:nvPr/>
          </p:nvSpPr>
          <p:spPr>
            <a:xfrm>
              <a:off x="3541763" y="5487577"/>
              <a:ext cx="1046249" cy="143079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Logout</a:t>
              </a:r>
              <a:r>
                <a:rPr lang="en-IN" sz="1150" kern="100" spc="-1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en-IN" sz="115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21765EFC-79BA-279C-48B5-BF90157F9E86}"/>
                </a:ext>
              </a:extLst>
            </p:cNvPr>
            <p:cNvPicPr/>
            <p:nvPr/>
          </p:nvPicPr>
          <p:blipFill>
            <a:blip r:embed="rId12"/>
            <a:stretch>
              <a:fillRect/>
            </a:stretch>
          </p:blipFill>
          <p:spPr>
            <a:xfrm>
              <a:off x="2775198" y="3127248"/>
              <a:ext cx="2846832" cy="387096"/>
            </a:xfrm>
            <a:prstGeom prst="rect">
              <a:avLst/>
            </a:prstGeom>
          </p:spPr>
        </p:pic>
        <p:sp>
          <p:nvSpPr>
            <p:cNvPr id="62" name="Shape 2950">
              <a:extLst>
                <a:ext uri="{FF2B5EF4-FFF2-40B4-BE49-F238E27FC236}">
                  <a16:creationId xmlns:a16="http://schemas.microsoft.com/office/drawing/2014/main" id="{4B097C75-5F83-6DE6-20AD-A6A75DECCD63}"/>
                </a:ext>
              </a:extLst>
            </p:cNvPr>
            <p:cNvSpPr/>
            <p:nvPr/>
          </p:nvSpPr>
          <p:spPr>
            <a:xfrm>
              <a:off x="2776722" y="3130296"/>
              <a:ext cx="2846832" cy="384048"/>
            </a:xfrm>
            <a:custGeom>
              <a:avLst/>
              <a:gdLst/>
              <a:ahLst/>
              <a:cxnLst/>
              <a:rect l="0" t="0" r="0" b="0"/>
              <a:pathLst>
                <a:path w="2846832" h="384048">
                  <a:moveTo>
                    <a:pt x="0" y="192024"/>
                  </a:moveTo>
                  <a:cubicBezTo>
                    <a:pt x="0" y="85344"/>
                    <a:pt x="637032" y="0"/>
                    <a:pt x="1423416" y="0"/>
                  </a:cubicBezTo>
                  <a:cubicBezTo>
                    <a:pt x="2209800" y="0"/>
                    <a:pt x="2846832" y="85344"/>
                    <a:pt x="2846832" y="192024"/>
                  </a:cubicBezTo>
                  <a:cubicBezTo>
                    <a:pt x="2846832" y="297180"/>
                    <a:pt x="2209800" y="384048"/>
                    <a:pt x="1423416" y="384048"/>
                  </a:cubicBezTo>
                  <a:cubicBezTo>
                    <a:pt x="637032" y="384048"/>
                    <a:pt x="0" y="297180"/>
                    <a:pt x="0" y="192024"/>
                  </a:cubicBezTo>
                </a:path>
              </a:pathLst>
            </a:custGeom>
            <a:ln w="6096" cap="flat">
              <a:miter lim="101600"/>
            </a:ln>
          </p:spPr>
          <p:style>
            <a:lnRef idx="1">
              <a:srgbClr val="A5A5A5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DEFF79F2-F35B-6B01-5246-F864C530D35E}"/>
                </a:ext>
              </a:extLst>
            </p:cNvPr>
            <p:cNvSpPr/>
            <p:nvPr/>
          </p:nvSpPr>
          <p:spPr>
            <a:xfrm>
              <a:off x="3271625" y="3273129"/>
              <a:ext cx="1448304" cy="180256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Add</a:t>
              </a:r>
              <a:r>
                <a:rPr lang="en-IN" sz="1150" kern="100" spc="1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IN" sz="115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to Wishlist</a:t>
              </a:r>
              <a:r>
                <a:rPr lang="en-IN" sz="1150" kern="100" spc="-2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en-IN" sz="115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64" name="Shape 2952">
              <a:extLst>
                <a:ext uri="{FF2B5EF4-FFF2-40B4-BE49-F238E27FC236}">
                  <a16:creationId xmlns:a16="http://schemas.microsoft.com/office/drawing/2014/main" id="{7F9D677E-B133-A522-9C32-8EA37D3CDD80}"/>
                </a:ext>
              </a:extLst>
            </p:cNvPr>
            <p:cNvSpPr/>
            <p:nvPr/>
          </p:nvSpPr>
          <p:spPr>
            <a:xfrm>
              <a:off x="1371594" y="557784"/>
              <a:ext cx="1313688" cy="2456688"/>
            </a:xfrm>
            <a:custGeom>
              <a:avLst/>
              <a:gdLst/>
              <a:ahLst/>
              <a:cxnLst/>
              <a:rect l="0" t="0" r="0" b="0"/>
              <a:pathLst>
                <a:path w="1313688" h="2456688">
                  <a:moveTo>
                    <a:pt x="1313688" y="0"/>
                  </a:moveTo>
                  <a:lnTo>
                    <a:pt x="1310640" y="80772"/>
                  </a:lnTo>
                  <a:lnTo>
                    <a:pt x="1282121" y="65469"/>
                  </a:lnTo>
                  <a:lnTo>
                    <a:pt x="6096" y="2456688"/>
                  </a:lnTo>
                  <a:lnTo>
                    <a:pt x="0" y="2453640"/>
                  </a:lnTo>
                  <a:lnTo>
                    <a:pt x="1277297" y="62881"/>
                  </a:lnTo>
                  <a:lnTo>
                    <a:pt x="1248156" y="47244"/>
                  </a:lnTo>
                  <a:lnTo>
                    <a:pt x="1313688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65" name="Shape 2953">
              <a:extLst>
                <a:ext uri="{FF2B5EF4-FFF2-40B4-BE49-F238E27FC236}">
                  <a16:creationId xmlns:a16="http://schemas.microsoft.com/office/drawing/2014/main" id="{E54A4D1B-23CE-0F07-EE91-27CB54DFCDA4}"/>
                </a:ext>
              </a:extLst>
            </p:cNvPr>
            <p:cNvSpPr/>
            <p:nvPr/>
          </p:nvSpPr>
          <p:spPr>
            <a:xfrm>
              <a:off x="1385309" y="1072897"/>
              <a:ext cx="1286256" cy="1929384"/>
            </a:xfrm>
            <a:custGeom>
              <a:avLst/>
              <a:gdLst/>
              <a:ahLst/>
              <a:cxnLst/>
              <a:rect l="0" t="0" r="0" b="0"/>
              <a:pathLst>
                <a:path w="1286256" h="1929384">
                  <a:moveTo>
                    <a:pt x="1286256" y="0"/>
                  </a:moveTo>
                  <a:lnTo>
                    <a:pt x="1277112" y="79248"/>
                  </a:lnTo>
                  <a:lnTo>
                    <a:pt x="1249682" y="60961"/>
                  </a:lnTo>
                  <a:lnTo>
                    <a:pt x="4572" y="1929384"/>
                  </a:lnTo>
                  <a:lnTo>
                    <a:pt x="0" y="1924812"/>
                  </a:lnTo>
                  <a:lnTo>
                    <a:pt x="1244406" y="57444"/>
                  </a:lnTo>
                  <a:lnTo>
                    <a:pt x="1217676" y="39624"/>
                  </a:lnTo>
                  <a:lnTo>
                    <a:pt x="1286256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66" name="Shape 2954">
              <a:extLst>
                <a:ext uri="{FF2B5EF4-FFF2-40B4-BE49-F238E27FC236}">
                  <a16:creationId xmlns:a16="http://schemas.microsoft.com/office/drawing/2014/main" id="{DCA3069F-2F7B-3B70-AA9B-6119AE49EECD}"/>
                </a:ext>
              </a:extLst>
            </p:cNvPr>
            <p:cNvSpPr/>
            <p:nvPr/>
          </p:nvSpPr>
          <p:spPr>
            <a:xfrm>
              <a:off x="1399026" y="1641348"/>
              <a:ext cx="1280160" cy="1362456"/>
            </a:xfrm>
            <a:custGeom>
              <a:avLst/>
              <a:gdLst/>
              <a:ahLst/>
              <a:cxnLst/>
              <a:rect l="0" t="0" r="0" b="0"/>
              <a:pathLst>
                <a:path w="1280160" h="1362456">
                  <a:moveTo>
                    <a:pt x="1280160" y="0"/>
                  </a:moveTo>
                  <a:lnTo>
                    <a:pt x="1255776" y="77724"/>
                  </a:lnTo>
                  <a:lnTo>
                    <a:pt x="1231735" y="55097"/>
                  </a:lnTo>
                  <a:lnTo>
                    <a:pt x="4572" y="1362456"/>
                  </a:lnTo>
                  <a:lnTo>
                    <a:pt x="0" y="1359408"/>
                  </a:lnTo>
                  <a:lnTo>
                    <a:pt x="1227788" y="51382"/>
                  </a:lnTo>
                  <a:lnTo>
                    <a:pt x="1203960" y="28956"/>
                  </a:lnTo>
                  <a:lnTo>
                    <a:pt x="128016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67" name="Shape 2955">
              <a:extLst>
                <a:ext uri="{FF2B5EF4-FFF2-40B4-BE49-F238E27FC236}">
                  <a16:creationId xmlns:a16="http://schemas.microsoft.com/office/drawing/2014/main" id="{82155908-F114-2531-627F-E0C94ABA7634}"/>
                </a:ext>
              </a:extLst>
            </p:cNvPr>
            <p:cNvSpPr/>
            <p:nvPr/>
          </p:nvSpPr>
          <p:spPr>
            <a:xfrm>
              <a:off x="1412741" y="2200656"/>
              <a:ext cx="1271016" cy="781812"/>
            </a:xfrm>
            <a:custGeom>
              <a:avLst/>
              <a:gdLst/>
              <a:ahLst/>
              <a:cxnLst/>
              <a:rect l="0" t="0" r="0" b="0"/>
              <a:pathLst>
                <a:path w="1271016" h="781812">
                  <a:moveTo>
                    <a:pt x="1271016" y="0"/>
                  </a:moveTo>
                  <a:lnTo>
                    <a:pt x="1229868" y="68580"/>
                  </a:lnTo>
                  <a:lnTo>
                    <a:pt x="1211922" y="39866"/>
                  </a:lnTo>
                  <a:lnTo>
                    <a:pt x="3048" y="781812"/>
                  </a:lnTo>
                  <a:lnTo>
                    <a:pt x="0" y="775716"/>
                  </a:lnTo>
                  <a:lnTo>
                    <a:pt x="1209006" y="35200"/>
                  </a:lnTo>
                  <a:lnTo>
                    <a:pt x="1191768" y="7620"/>
                  </a:lnTo>
                  <a:lnTo>
                    <a:pt x="1271016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68" name="Shape 2956">
              <a:extLst>
                <a:ext uri="{FF2B5EF4-FFF2-40B4-BE49-F238E27FC236}">
                  <a16:creationId xmlns:a16="http://schemas.microsoft.com/office/drawing/2014/main" id="{D3AF39CF-1515-F035-6C00-26B2CC44109F}"/>
                </a:ext>
              </a:extLst>
            </p:cNvPr>
            <p:cNvSpPr/>
            <p:nvPr/>
          </p:nvSpPr>
          <p:spPr>
            <a:xfrm>
              <a:off x="1406646" y="2714245"/>
              <a:ext cx="1284732" cy="289560"/>
            </a:xfrm>
            <a:custGeom>
              <a:avLst/>
              <a:gdLst/>
              <a:ahLst/>
              <a:cxnLst/>
              <a:rect l="0" t="0" r="0" b="0"/>
              <a:pathLst>
                <a:path w="1284732" h="289560">
                  <a:moveTo>
                    <a:pt x="1207008" y="0"/>
                  </a:moveTo>
                  <a:lnTo>
                    <a:pt x="1284732" y="21336"/>
                  </a:lnTo>
                  <a:lnTo>
                    <a:pt x="1222248" y="71628"/>
                  </a:lnTo>
                  <a:lnTo>
                    <a:pt x="1215296" y="38955"/>
                  </a:lnTo>
                  <a:lnTo>
                    <a:pt x="1524" y="289560"/>
                  </a:lnTo>
                  <a:lnTo>
                    <a:pt x="0" y="284988"/>
                  </a:lnTo>
                  <a:lnTo>
                    <a:pt x="1213993" y="32828"/>
                  </a:lnTo>
                  <a:lnTo>
                    <a:pt x="1207008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69" name="Shape 2957">
              <a:extLst>
                <a:ext uri="{FF2B5EF4-FFF2-40B4-BE49-F238E27FC236}">
                  <a16:creationId xmlns:a16="http://schemas.microsoft.com/office/drawing/2014/main" id="{9A608258-5B54-CCAC-8766-358DB21DF012}"/>
                </a:ext>
              </a:extLst>
            </p:cNvPr>
            <p:cNvSpPr/>
            <p:nvPr/>
          </p:nvSpPr>
          <p:spPr>
            <a:xfrm>
              <a:off x="1412742" y="2996185"/>
              <a:ext cx="1304544" cy="361188"/>
            </a:xfrm>
            <a:custGeom>
              <a:avLst/>
              <a:gdLst/>
              <a:ahLst/>
              <a:cxnLst/>
              <a:rect l="0" t="0" r="0" b="0"/>
              <a:pathLst>
                <a:path w="1304544" h="361188">
                  <a:moveTo>
                    <a:pt x="1524" y="0"/>
                  </a:moveTo>
                  <a:lnTo>
                    <a:pt x="1236743" y="323150"/>
                  </a:lnTo>
                  <a:lnTo>
                    <a:pt x="1245108" y="291084"/>
                  </a:lnTo>
                  <a:lnTo>
                    <a:pt x="1304544" y="344424"/>
                  </a:lnTo>
                  <a:lnTo>
                    <a:pt x="1226820" y="361188"/>
                  </a:lnTo>
                  <a:lnTo>
                    <a:pt x="1235160" y="329217"/>
                  </a:lnTo>
                  <a:lnTo>
                    <a:pt x="0" y="4572"/>
                  </a:lnTo>
                  <a:lnTo>
                    <a:pt x="1524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70" name="Shape 2958">
              <a:extLst>
                <a:ext uri="{FF2B5EF4-FFF2-40B4-BE49-F238E27FC236}">
                  <a16:creationId xmlns:a16="http://schemas.microsoft.com/office/drawing/2014/main" id="{EB820123-6388-E904-4269-D90124956AB7}"/>
                </a:ext>
              </a:extLst>
            </p:cNvPr>
            <p:cNvSpPr/>
            <p:nvPr/>
          </p:nvSpPr>
          <p:spPr>
            <a:xfrm>
              <a:off x="1399025" y="3017521"/>
              <a:ext cx="1339596" cy="862584"/>
            </a:xfrm>
            <a:custGeom>
              <a:avLst/>
              <a:gdLst/>
              <a:ahLst/>
              <a:cxnLst/>
              <a:rect l="0" t="0" r="0" b="0"/>
              <a:pathLst>
                <a:path w="1339596" h="862584">
                  <a:moveTo>
                    <a:pt x="3048" y="0"/>
                  </a:moveTo>
                  <a:lnTo>
                    <a:pt x="1280515" y="820904"/>
                  </a:lnTo>
                  <a:lnTo>
                    <a:pt x="1298448" y="794004"/>
                  </a:lnTo>
                  <a:lnTo>
                    <a:pt x="1339596" y="862584"/>
                  </a:lnTo>
                  <a:lnTo>
                    <a:pt x="1258824" y="853440"/>
                  </a:lnTo>
                  <a:lnTo>
                    <a:pt x="1277466" y="825477"/>
                  </a:lnTo>
                  <a:lnTo>
                    <a:pt x="0" y="4572"/>
                  </a:lnTo>
                  <a:lnTo>
                    <a:pt x="3048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71" name="Shape 2959">
              <a:extLst>
                <a:ext uri="{FF2B5EF4-FFF2-40B4-BE49-F238E27FC236}">
                  <a16:creationId xmlns:a16="http://schemas.microsoft.com/office/drawing/2014/main" id="{31A5BB18-3908-4639-8A8C-7E99696EA3D2}"/>
                </a:ext>
              </a:extLst>
            </p:cNvPr>
            <p:cNvSpPr/>
            <p:nvPr/>
          </p:nvSpPr>
          <p:spPr>
            <a:xfrm>
              <a:off x="1371594" y="2997708"/>
              <a:ext cx="1327404" cy="1455420"/>
            </a:xfrm>
            <a:custGeom>
              <a:avLst/>
              <a:gdLst/>
              <a:ahLst/>
              <a:cxnLst/>
              <a:rect l="0" t="0" r="0" b="0"/>
              <a:pathLst>
                <a:path w="1327404" h="1455420">
                  <a:moveTo>
                    <a:pt x="4572" y="0"/>
                  </a:moveTo>
                  <a:lnTo>
                    <a:pt x="1281074" y="1399155"/>
                  </a:lnTo>
                  <a:lnTo>
                    <a:pt x="1304544" y="1377696"/>
                  </a:lnTo>
                  <a:lnTo>
                    <a:pt x="1327404" y="1455420"/>
                  </a:lnTo>
                  <a:lnTo>
                    <a:pt x="1251204" y="1426464"/>
                  </a:lnTo>
                  <a:lnTo>
                    <a:pt x="1276306" y="1403513"/>
                  </a:lnTo>
                  <a:lnTo>
                    <a:pt x="0" y="4572"/>
                  </a:lnTo>
                  <a:lnTo>
                    <a:pt x="4572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72" name="Shape 2960">
              <a:extLst>
                <a:ext uri="{FF2B5EF4-FFF2-40B4-BE49-F238E27FC236}">
                  <a16:creationId xmlns:a16="http://schemas.microsoft.com/office/drawing/2014/main" id="{3DA456F2-EAA7-F325-D5A9-F05E590864AA}"/>
                </a:ext>
              </a:extLst>
            </p:cNvPr>
            <p:cNvSpPr/>
            <p:nvPr/>
          </p:nvSpPr>
          <p:spPr>
            <a:xfrm>
              <a:off x="1371594" y="3017521"/>
              <a:ext cx="1353312" cy="1962912"/>
            </a:xfrm>
            <a:custGeom>
              <a:avLst/>
              <a:gdLst/>
              <a:ahLst/>
              <a:cxnLst/>
              <a:rect l="0" t="0" r="0" b="0"/>
              <a:pathLst>
                <a:path w="1353312" h="1962912">
                  <a:moveTo>
                    <a:pt x="4572" y="0"/>
                  </a:moveTo>
                  <a:lnTo>
                    <a:pt x="1316111" y="1901353"/>
                  </a:lnTo>
                  <a:lnTo>
                    <a:pt x="1342644" y="1883664"/>
                  </a:lnTo>
                  <a:lnTo>
                    <a:pt x="1353312" y="1962912"/>
                  </a:lnTo>
                  <a:lnTo>
                    <a:pt x="1283208" y="1923288"/>
                  </a:lnTo>
                  <a:lnTo>
                    <a:pt x="1309785" y="1905571"/>
                  </a:lnTo>
                  <a:lnTo>
                    <a:pt x="0" y="3048"/>
                  </a:lnTo>
                  <a:lnTo>
                    <a:pt x="4572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73" name="Shape 2961">
              <a:extLst>
                <a:ext uri="{FF2B5EF4-FFF2-40B4-BE49-F238E27FC236}">
                  <a16:creationId xmlns:a16="http://schemas.microsoft.com/office/drawing/2014/main" id="{80CCF515-759C-5D0C-AC63-40DA1FE92C15}"/>
                </a:ext>
              </a:extLst>
            </p:cNvPr>
            <p:cNvSpPr/>
            <p:nvPr/>
          </p:nvSpPr>
          <p:spPr>
            <a:xfrm>
              <a:off x="1365497" y="3011424"/>
              <a:ext cx="1353312" cy="2511552"/>
            </a:xfrm>
            <a:custGeom>
              <a:avLst/>
              <a:gdLst/>
              <a:ahLst/>
              <a:cxnLst/>
              <a:rect l="0" t="0" r="0" b="0"/>
              <a:pathLst>
                <a:path w="1353312" h="2511552">
                  <a:moveTo>
                    <a:pt x="4572" y="0"/>
                  </a:moveTo>
                  <a:lnTo>
                    <a:pt x="1321366" y="2446991"/>
                  </a:lnTo>
                  <a:lnTo>
                    <a:pt x="1350264" y="2430780"/>
                  </a:lnTo>
                  <a:lnTo>
                    <a:pt x="1353312" y="2511552"/>
                  </a:lnTo>
                  <a:lnTo>
                    <a:pt x="1287780" y="2465832"/>
                  </a:lnTo>
                  <a:lnTo>
                    <a:pt x="1317221" y="2449316"/>
                  </a:lnTo>
                  <a:lnTo>
                    <a:pt x="0" y="3048"/>
                  </a:lnTo>
                  <a:lnTo>
                    <a:pt x="4572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B51717F-DF73-514C-755A-724AA23F8CE1}"/>
              </a:ext>
            </a:extLst>
          </p:cNvPr>
          <p:cNvGrpSpPr/>
          <p:nvPr/>
        </p:nvGrpSpPr>
        <p:grpSpPr>
          <a:xfrm>
            <a:off x="6149335" y="1424903"/>
            <a:ext cx="5883934" cy="4822218"/>
            <a:chOff x="0" y="0"/>
            <a:chExt cx="5884158" cy="4822218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EC7E3213-1138-4AE2-D8DE-37316479887C}"/>
                </a:ext>
              </a:extLst>
            </p:cNvPr>
            <p:cNvSpPr/>
            <p:nvPr/>
          </p:nvSpPr>
          <p:spPr>
            <a:xfrm>
              <a:off x="0" y="23565"/>
              <a:ext cx="52766" cy="17939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B2B99A09-AC18-1540-2AD5-25161CB616D0}"/>
                </a:ext>
              </a:extLst>
            </p:cNvPr>
            <p:cNvSpPr/>
            <p:nvPr/>
          </p:nvSpPr>
          <p:spPr>
            <a:xfrm>
              <a:off x="0" y="354298"/>
              <a:ext cx="52766" cy="17939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10B3FE02-167C-56DD-7BED-55AC6BE30C71}"/>
                </a:ext>
              </a:extLst>
            </p:cNvPr>
            <p:cNvSpPr/>
            <p:nvPr/>
          </p:nvSpPr>
          <p:spPr>
            <a:xfrm>
              <a:off x="0" y="683489"/>
              <a:ext cx="52766" cy="17939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B6A8CCFB-4F9B-6E5C-F69D-DD38171991CE}"/>
                </a:ext>
              </a:extLst>
            </p:cNvPr>
            <p:cNvSpPr/>
            <p:nvPr/>
          </p:nvSpPr>
          <p:spPr>
            <a:xfrm>
              <a:off x="1289319" y="1014134"/>
              <a:ext cx="52766" cy="17939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B69893A7-B2CD-6138-B429-3F8014D9AD69}"/>
                </a:ext>
              </a:extLst>
            </p:cNvPr>
            <p:cNvSpPr/>
            <p:nvPr/>
          </p:nvSpPr>
          <p:spPr>
            <a:xfrm>
              <a:off x="1289319" y="1341801"/>
              <a:ext cx="52766" cy="17939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91802E87-42E0-B09F-8992-ACD57EB1186A}"/>
                </a:ext>
              </a:extLst>
            </p:cNvPr>
            <p:cNvSpPr/>
            <p:nvPr/>
          </p:nvSpPr>
          <p:spPr>
            <a:xfrm>
              <a:off x="0" y="1672534"/>
              <a:ext cx="52766" cy="17939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BCBA4D64-A2DA-29EC-67FB-BB0D7D2FCD54}"/>
                </a:ext>
              </a:extLst>
            </p:cNvPr>
            <p:cNvSpPr/>
            <p:nvPr/>
          </p:nvSpPr>
          <p:spPr>
            <a:xfrm>
              <a:off x="0" y="1837112"/>
              <a:ext cx="52766" cy="17939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74FF8350-D8D5-2E3B-B938-41BB23493D59}"/>
                </a:ext>
              </a:extLst>
            </p:cNvPr>
            <p:cNvSpPr/>
            <p:nvPr/>
          </p:nvSpPr>
          <p:spPr>
            <a:xfrm>
              <a:off x="0" y="2003266"/>
              <a:ext cx="52766" cy="17939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56798594-3257-0DDA-788C-F5D3FEE6B4B8}"/>
                </a:ext>
              </a:extLst>
            </p:cNvPr>
            <p:cNvSpPr/>
            <p:nvPr/>
          </p:nvSpPr>
          <p:spPr>
            <a:xfrm>
              <a:off x="0" y="2167844"/>
              <a:ext cx="52766" cy="17939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41FB897A-4111-D3A2-91F3-F667E1E3261A}"/>
                </a:ext>
              </a:extLst>
            </p:cNvPr>
            <p:cNvSpPr/>
            <p:nvPr/>
          </p:nvSpPr>
          <p:spPr>
            <a:xfrm>
              <a:off x="0" y="2332467"/>
              <a:ext cx="52766" cy="17939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802F8D1A-80B1-9855-ABA3-C2984A3B9749}"/>
                </a:ext>
              </a:extLst>
            </p:cNvPr>
            <p:cNvSpPr/>
            <p:nvPr/>
          </p:nvSpPr>
          <p:spPr>
            <a:xfrm>
              <a:off x="0" y="2497045"/>
              <a:ext cx="52766" cy="17939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B10BE6C9-9EF7-6F78-54DD-3307EC42FC2B}"/>
                </a:ext>
              </a:extLst>
            </p:cNvPr>
            <p:cNvSpPr/>
            <p:nvPr/>
          </p:nvSpPr>
          <p:spPr>
            <a:xfrm>
              <a:off x="0" y="2663111"/>
              <a:ext cx="52766" cy="17939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FC9221C5-B9DF-E4C7-B31D-C98C101F1140}"/>
                </a:ext>
              </a:extLst>
            </p:cNvPr>
            <p:cNvSpPr/>
            <p:nvPr/>
          </p:nvSpPr>
          <p:spPr>
            <a:xfrm>
              <a:off x="0" y="2827734"/>
              <a:ext cx="52766" cy="17939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5D908ED-27A6-DBE9-81B6-44E0C669F8F3}"/>
                </a:ext>
              </a:extLst>
            </p:cNvPr>
            <p:cNvSpPr/>
            <p:nvPr/>
          </p:nvSpPr>
          <p:spPr>
            <a:xfrm>
              <a:off x="0" y="2992312"/>
              <a:ext cx="52766" cy="17939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4FB427FD-8B83-E5A5-E0BE-12253B7A8CEC}"/>
                </a:ext>
              </a:extLst>
            </p:cNvPr>
            <p:cNvSpPr/>
            <p:nvPr/>
          </p:nvSpPr>
          <p:spPr>
            <a:xfrm>
              <a:off x="0" y="3158466"/>
              <a:ext cx="52766" cy="17939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58357DF6-5B09-4D97-90BA-89AD9DB17C8E}"/>
                </a:ext>
              </a:extLst>
            </p:cNvPr>
            <p:cNvSpPr/>
            <p:nvPr/>
          </p:nvSpPr>
          <p:spPr>
            <a:xfrm>
              <a:off x="0" y="3323044"/>
              <a:ext cx="52766" cy="17939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63B6089B-B0AA-96BC-0D86-2657FE51E41E}"/>
                </a:ext>
              </a:extLst>
            </p:cNvPr>
            <p:cNvSpPr/>
            <p:nvPr/>
          </p:nvSpPr>
          <p:spPr>
            <a:xfrm>
              <a:off x="0" y="3487622"/>
              <a:ext cx="52766" cy="17939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E1A037B5-5093-5488-0D89-CC4B89ED5BC2}"/>
                </a:ext>
              </a:extLst>
            </p:cNvPr>
            <p:cNvSpPr/>
            <p:nvPr/>
          </p:nvSpPr>
          <p:spPr>
            <a:xfrm>
              <a:off x="0" y="3652243"/>
              <a:ext cx="52766" cy="17939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5D485D48-0797-5C28-221E-F76902F3F717}"/>
                </a:ext>
              </a:extLst>
            </p:cNvPr>
            <p:cNvSpPr/>
            <p:nvPr/>
          </p:nvSpPr>
          <p:spPr>
            <a:xfrm>
              <a:off x="0" y="3818354"/>
              <a:ext cx="52766" cy="17939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3642419D-47BF-3D36-4D78-34FFA3548F36}"/>
                </a:ext>
              </a:extLst>
            </p:cNvPr>
            <p:cNvSpPr/>
            <p:nvPr/>
          </p:nvSpPr>
          <p:spPr>
            <a:xfrm>
              <a:off x="0" y="3982977"/>
              <a:ext cx="52766" cy="17939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870C6245-B10A-E9FD-0539-DCE7E09F8CC3}"/>
                </a:ext>
              </a:extLst>
            </p:cNvPr>
            <p:cNvSpPr/>
            <p:nvPr/>
          </p:nvSpPr>
          <p:spPr>
            <a:xfrm>
              <a:off x="0" y="4147554"/>
              <a:ext cx="52766" cy="17939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8E524D7C-7ECB-0C9D-258F-5A119A2B1A0B}"/>
                </a:ext>
              </a:extLst>
            </p:cNvPr>
            <p:cNvSpPr/>
            <p:nvPr/>
          </p:nvSpPr>
          <p:spPr>
            <a:xfrm>
              <a:off x="0" y="4313622"/>
              <a:ext cx="52766" cy="17939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A2B29347-21EE-34AB-8441-BF70A49AE55E}"/>
                </a:ext>
              </a:extLst>
            </p:cNvPr>
            <p:cNvSpPr/>
            <p:nvPr/>
          </p:nvSpPr>
          <p:spPr>
            <a:xfrm>
              <a:off x="0" y="4478243"/>
              <a:ext cx="52766" cy="17939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E8AFA00D-3D50-6B96-A816-289CFCC17995}"/>
                </a:ext>
              </a:extLst>
            </p:cNvPr>
            <p:cNvSpPr/>
            <p:nvPr/>
          </p:nvSpPr>
          <p:spPr>
            <a:xfrm>
              <a:off x="0" y="4642821"/>
              <a:ext cx="52766" cy="17939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99" name="Shape 2779">
              <a:extLst>
                <a:ext uri="{FF2B5EF4-FFF2-40B4-BE49-F238E27FC236}">
                  <a16:creationId xmlns:a16="http://schemas.microsoft.com/office/drawing/2014/main" id="{B0083468-B111-8CC2-2735-7D1885A62846}"/>
                </a:ext>
              </a:extLst>
            </p:cNvPr>
            <p:cNvSpPr/>
            <p:nvPr/>
          </p:nvSpPr>
          <p:spPr>
            <a:xfrm>
              <a:off x="2467350" y="0"/>
              <a:ext cx="3416808" cy="4800601"/>
            </a:xfrm>
            <a:custGeom>
              <a:avLst/>
              <a:gdLst/>
              <a:ahLst/>
              <a:cxnLst/>
              <a:rect l="0" t="0" r="0" b="0"/>
              <a:pathLst>
                <a:path w="3416808" h="4800601">
                  <a:moveTo>
                    <a:pt x="0" y="569976"/>
                  </a:moveTo>
                  <a:cubicBezTo>
                    <a:pt x="0" y="254508"/>
                    <a:pt x="254508" y="0"/>
                    <a:pt x="569976" y="0"/>
                  </a:cubicBezTo>
                  <a:lnTo>
                    <a:pt x="2848356" y="0"/>
                  </a:lnTo>
                  <a:cubicBezTo>
                    <a:pt x="3162300" y="0"/>
                    <a:pt x="3416808" y="254508"/>
                    <a:pt x="3416808" y="569976"/>
                  </a:cubicBezTo>
                  <a:lnTo>
                    <a:pt x="3416808" y="4232149"/>
                  </a:lnTo>
                  <a:cubicBezTo>
                    <a:pt x="3416808" y="4546092"/>
                    <a:pt x="3162300" y="4800601"/>
                    <a:pt x="2848356" y="4800601"/>
                  </a:cubicBezTo>
                  <a:lnTo>
                    <a:pt x="569976" y="4800601"/>
                  </a:lnTo>
                  <a:cubicBezTo>
                    <a:pt x="254508" y="4800601"/>
                    <a:pt x="0" y="4546092"/>
                    <a:pt x="0" y="4232149"/>
                  </a:cubicBezTo>
                  <a:close/>
                </a:path>
              </a:pathLst>
            </a:custGeom>
            <a:ln w="12192" cap="flat">
              <a:miter lim="1016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pic>
          <p:nvPicPr>
            <p:cNvPr id="100" name="Picture 99">
              <a:extLst>
                <a:ext uri="{FF2B5EF4-FFF2-40B4-BE49-F238E27FC236}">
                  <a16:creationId xmlns:a16="http://schemas.microsoft.com/office/drawing/2014/main" id="{B5E5FF1F-DCAE-BFA5-D8A5-70391BB7DA15}"/>
                </a:ext>
              </a:extLst>
            </p:cNvPr>
            <p:cNvPicPr/>
            <p:nvPr/>
          </p:nvPicPr>
          <p:blipFill>
            <a:blip r:embed="rId13"/>
            <a:stretch>
              <a:fillRect/>
            </a:stretch>
          </p:blipFill>
          <p:spPr>
            <a:xfrm>
              <a:off x="350513" y="1060704"/>
              <a:ext cx="832104" cy="2602992"/>
            </a:xfrm>
            <a:prstGeom prst="rect">
              <a:avLst/>
            </a:prstGeom>
          </p:spPr>
        </p:pic>
        <p:pic>
          <p:nvPicPr>
            <p:cNvPr id="101" name="Picture 100">
              <a:extLst>
                <a:ext uri="{FF2B5EF4-FFF2-40B4-BE49-F238E27FC236}">
                  <a16:creationId xmlns:a16="http://schemas.microsoft.com/office/drawing/2014/main" id="{FC8D8506-ED48-D6A6-5917-7F6328EB265F}"/>
                </a:ext>
              </a:extLst>
            </p:cNvPr>
            <p:cNvPicPr/>
            <p:nvPr/>
          </p:nvPicPr>
          <p:blipFill>
            <a:blip r:embed="rId14"/>
            <a:stretch>
              <a:fillRect/>
            </a:stretch>
          </p:blipFill>
          <p:spPr>
            <a:xfrm>
              <a:off x="2733542" y="542036"/>
              <a:ext cx="2849880" cy="387096"/>
            </a:xfrm>
            <a:prstGeom prst="rect">
              <a:avLst/>
            </a:prstGeom>
          </p:spPr>
        </p:pic>
        <p:sp>
          <p:nvSpPr>
            <p:cNvPr id="102" name="Shape 2784">
              <a:extLst>
                <a:ext uri="{FF2B5EF4-FFF2-40B4-BE49-F238E27FC236}">
                  <a16:creationId xmlns:a16="http://schemas.microsoft.com/office/drawing/2014/main" id="{EBA6F323-9957-8E18-1CD5-389271F32DC3}"/>
                </a:ext>
              </a:extLst>
            </p:cNvPr>
            <p:cNvSpPr/>
            <p:nvPr/>
          </p:nvSpPr>
          <p:spPr>
            <a:xfrm>
              <a:off x="2735574" y="545592"/>
              <a:ext cx="2848356" cy="384048"/>
            </a:xfrm>
            <a:custGeom>
              <a:avLst/>
              <a:gdLst/>
              <a:ahLst/>
              <a:cxnLst/>
              <a:rect l="0" t="0" r="0" b="0"/>
              <a:pathLst>
                <a:path w="2848356" h="384048">
                  <a:moveTo>
                    <a:pt x="0" y="192024"/>
                  </a:moveTo>
                  <a:cubicBezTo>
                    <a:pt x="0" y="85344"/>
                    <a:pt x="638556" y="0"/>
                    <a:pt x="1424940" y="0"/>
                  </a:cubicBezTo>
                  <a:cubicBezTo>
                    <a:pt x="2211324" y="0"/>
                    <a:pt x="2848356" y="85344"/>
                    <a:pt x="2848356" y="192024"/>
                  </a:cubicBezTo>
                  <a:cubicBezTo>
                    <a:pt x="2848356" y="298704"/>
                    <a:pt x="2211324" y="384048"/>
                    <a:pt x="1424940" y="384048"/>
                  </a:cubicBezTo>
                  <a:cubicBezTo>
                    <a:pt x="638556" y="384048"/>
                    <a:pt x="0" y="298704"/>
                    <a:pt x="0" y="192024"/>
                  </a:cubicBezTo>
                </a:path>
              </a:pathLst>
            </a:custGeom>
            <a:ln w="6096" cap="flat">
              <a:miter lim="101600"/>
            </a:ln>
          </p:spPr>
          <p:style>
            <a:lnRef idx="1">
              <a:srgbClr val="A5A5A5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6D82D79A-B2D4-8AB1-0A20-2874EB85464C}"/>
                </a:ext>
              </a:extLst>
            </p:cNvPr>
            <p:cNvSpPr/>
            <p:nvPr/>
          </p:nvSpPr>
          <p:spPr>
            <a:xfrm>
              <a:off x="3360553" y="689935"/>
              <a:ext cx="1308957" cy="15006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Admin</a:t>
              </a:r>
              <a:r>
                <a:rPr lang="en-IN" sz="1150" kern="100" spc="-1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IN" sz="115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Login </a:t>
              </a:r>
            </a:p>
          </p:txBody>
        </p:sp>
        <p:pic>
          <p:nvPicPr>
            <p:cNvPr id="104" name="Picture 103">
              <a:extLst>
                <a:ext uri="{FF2B5EF4-FFF2-40B4-BE49-F238E27FC236}">
                  <a16:creationId xmlns:a16="http://schemas.microsoft.com/office/drawing/2014/main" id="{942EE05D-0D7B-DA35-8B75-A3931D08256B}"/>
                </a:ext>
              </a:extLst>
            </p:cNvPr>
            <p:cNvPicPr/>
            <p:nvPr/>
          </p:nvPicPr>
          <p:blipFill>
            <a:blip r:embed="rId15"/>
            <a:stretch>
              <a:fillRect/>
            </a:stretch>
          </p:blipFill>
          <p:spPr>
            <a:xfrm>
              <a:off x="2758942" y="1103884"/>
              <a:ext cx="2849880" cy="387096"/>
            </a:xfrm>
            <a:prstGeom prst="rect">
              <a:avLst/>
            </a:prstGeom>
          </p:spPr>
        </p:pic>
        <p:sp>
          <p:nvSpPr>
            <p:cNvPr id="105" name="Shape 2788">
              <a:extLst>
                <a:ext uri="{FF2B5EF4-FFF2-40B4-BE49-F238E27FC236}">
                  <a16:creationId xmlns:a16="http://schemas.microsoft.com/office/drawing/2014/main" id="{7A3BE10E-D7F5-AA65-D7B4-32FB029EAE0D}"/>
                </a:ext>
              </a:extLst>
            </p:cNvPr>
            <p:cNvSpPr/>
            <p:nvPr/>
          </p:nvSpPr>
          <p:spPr>
            <a:xfrm>
              <a:off x="2761482" y="1107948"/>
              <a:ext cx="2846833" cy="384048"/>
            </a:xfrm>
            <a:custGeom>
              <a:avLst/>
              <a:gdLst/>
              <a:ahLst/>
              <a:cxnLst/>
              <a:rect l="0" t="0" r="0" b="0"/>
              <a:pathLst>
                <a:path w="2846833" h="384048">
                  <a:moveTo>
                    <a:pt x="0" y="192024"/>
                  </a:moveTo>
                  <a:cubicBezTo>
                    <a:pt x="0" y="85344"/>
                    <a:pt x="637032" y="0"/>
                    <a:pt x="1423416" y="0"/>
                  </a:cubicBezTo>
                  <a:cubicBezTo>
                    <a:pt x="2209800" y="0"/>
                    <a:pt x="2846833" y="85344"/>
                    <a:pt x="2846833" y="192024"/>
                  </a:cubicBezTo>
                  <a:cubicBezTo>
                    <a:pt x="2846833" y="297180"/>
                    <a:pt x="2209800" y="384048"/>
                    <a:pt x="1423416" y="384048"/>
                  </a:cubicBezTo>
                  <a:cubicBezTo>
                    <a:pt x="637032" y="384048"/>
                    <a:pt x="0" y="297180"/>
                    <a:pt x="0" y="192024"/>
                  </a:cubicBezTo>
                </a:path>
              </a:pathLst>
            </a:custGeom>
            <a:ln w="6096" cap="flat">
              <a:miter lim="101600"/>
            </a:ln>
          </p:spPr>
          <p:style>
            <a:lnRef idx="1">
              <a:srgbClr val="A5A5A5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DC985732-B162-D8CE-6175-0103C1F4B712}"/>
                </a:ext>
              </a:extLst>
            </p:cNvPr>
            <p:cNvSpPr/>
            <p:nvPr/>
          </p:nvSpPr>
          <p:spPr>
            <a:xfrm>
              <a:off x="3038939" y="1250780"/>
              <a:ext cx="1977300" cy="17362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Manage</a:t>
              </a:r>
              <a:r>
                <a:rPr lang="en-IN" sz="1150" kern="100" spc="-5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IN" sz="115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Products</a:t>
              </a:r>
              <a:r>
                <a:rPr lang="en-IN" sz="1150" kern="100" spc="1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IN" sz="115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(</a:t>
              </a:r>
              <a:r>
                <a:rPr lang="en-IN" sz="1150" kern="100" spc="-5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IN" sz="115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Add</a:t>
              </a:r>
              <a:r>
                <a:rPr lang="en-IN" sz="1150" kern="100" spc="1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IN" sz="115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)</a:t>
              </a:r>
              <a:r>
                <a:rPr lang="en-IN" sz="1150" kern="100" spc="5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en-IN" sz="115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pic>
          <p:nvPicPr>
            <p:cNvPr id="107" name="Picture 106">
              <a:extLst>
                <a:ext uri="{FF2B5EF4-FFF2-40B4-BE49-F238E27FC236}">
                  <a16:creationId xmlns:a16="http://schemas.microsoft.com/office/drawing/2014/main" id="{92F6C73B-DDE1-8187-3394-911DEAC0A358}"/>
                </a:ext>
              </a:extLst>
            </p:cNvPr>
            <p:cNvPicPr/>
            <p:nvPr/>
          </p:nvPicPr>
          <p:blipFill>
            <a:blip r:embed="rId16"/>
            <a:stretch>
              <a:fillRect/>
            </a:stretch>
          </p:blipFill>
          <p:spPr>
            <a:xfrm>
              <a:off x="2806694" y="1643380"/>
              <a:ext cx="2849880" cy="384048"/>
            </a:xfrm>
            <a:prstGeom prst="rect">
              <a:avLst/>
            </a:prstGeom>
          </p:spPr>
        </p:pic>
        <p:sp>
          <p:nvSpPr>
            <p:cNvPr id="108" name="Shape 2792">
              <a:extLst>
                <a:ext uri="{FF2B5EF4-FFF2-40B4-BE49-F238E27FC236}">
                  <a16:creationId xmlns:a16="http://schemas.microsoft.com/office/drawing/2014/main" id="{59433410-AF2D-E3F8-5867-695433014861}"/>
                </a:ext>
              </a:extLst>
            </p:cNvPr>
            <p:cNvSpPr/>
            <p:nvPr/>
          </p:nvSpPr>
          <p:spPr>
            <a:xfrm>
              <a:off x="2808725" y="1645920"/>
              <a:ext cx="2846833" cy="382524"/>
            </a:xfrm>
            <a:custGeom>
              <a:avLst/>
              <a:gdLst/>
              <a:ahLst/>
              <a:cxnLst/>
              <a:rect l="0" t="0" r="0" b="0"/>
              <a:pathLst>
                <a:path w="2846833" h="382524">
                  <a:moveTo>
                    <a:pt x="0" y="192024"/>
                  </a:moveTo>
                  <a:cubicBezTo>
                    <a:pt x="0" y="85344"/>
                    <a:pt x="637032" y="0"/>
                    <a:pt x="1423416" y="0"/>
                  </a:cubicBezTo>
                  <a:cubicBezTo>
                    <a:pt x="2209800" y="0"/>
                    <a:pt x="2846833" y="85344"/>
                    <a:pt x="2846833" y="192024"/>
                  </a:cubicBezTo>
                  <a:cubicBezTo>
                    <a:pt x="2846833" y="297180"/>
                    <a:pt x="2209800" y="382524"/>
                    <a:pt x="1423416" y="382524"/>
                  </a:cubicBezTo>
                  <a:cubicBezTo>
                    <a:pt x="637032" y="382524"/>
                    <a:pt x="0" y="297180"/>
                    <a:pt x="0" y="192024"/>
                  </a:cubicBezTo>
                </a:path>
              </a:pathLst>
            </a:custGeom>
            <a:ln w="6096" cap="flat">
              <a:miter lim="101600"/>
            </a:ln>
          </p:spPr>
          <p:style>
            <a:lnRef idx="1">
              <a:srgbClr val="A5A5A5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AEC1EDD8-85C5-314E-E3B6-FDBCBBB69238}"/>
                </a:ext>
              </a:extLst>
            </p:cNvPr>
            <p:cNvSpPr/>
            <p:nvPr/>
          </p:nvSpPr>
          <p:spPr>
            <a:xfrm>
              <a:off x="2974263" y="1788790"/>
              <a:ext cx="2198270" cy="17362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Manage</a:t>
              </a:r>
              <a:r>
                <a:rPr lang="en-IN" sz="1150" kern="100" spc="-5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IN" sz="115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Products (</a:t>
              </a:r>
              <a:r>
                <a:rPr lang="en-IN" sz="1150" kern="100" spc="5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IN" sz="115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Update</a:t>
              </a:r>
              <a:r>
                <a:rPr lang="en-IN" sz="1150" kern="100" spc="-5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IN" sz="115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)</a:t>
              </a:r>
              <a:r>
                <a:rPr lang="en-IN" sz="1150" kern="100" spc="-5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en-IN" sz="115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FFAE4087-8B01-E7B8-9A06-DBA7E62DB0D9}"/>
                </a:ext>
              </a:extLst>
            </p:cNvPr>
            <p:cNvPicPr/>
            <p:nvPr/>
          </p:nvPicPr>
          <p:blipFill>
            <a:blip r:embed="rId17"/>
            <a:stretch>
              <a:fillRect/>
            </a:stretch>
          </p:blipFill>
          <p:spPr>
            <a:xfrm>
              <a:off x="2791454" y="2316988"/>
              <a:ext cx="2852928" cy="387096"/>
            </a:xfrm>
            <a:prstGeom prst="rect">
              <a:avLst/>
            </a:prstGeom>
          </p:spPr>
        </p:pic>
        <p:sp>
          <p:nvSpPr>
            <p:cNvPr id="111" name="Shape 2796">
              <a:extLst>
                <a:ext uri="{FF2B5EF4-FFF2-40B4-BE49-F238E27FC236}">
                  <a16:creationId xmlns:a16="http://schemas.microsoft.com/office/drawing/2014/main" id="{B0126947-96C6-F4BE-4A28-6703FC59789B}"/>
                </a:ext>
              </a:extLst>
            </p:cNvPr>
            <p:cNvSpPr/>
            <p:nvPr/>
          </p:nvSpPr>
          <p:spPr>
            <a:xfrm>
              <a:off x="2795010" y="2321053"/>
              <a:ext cx="2848356" cy="384048"/>
            </a:xfrm>
            <a:custGeom>
              <a:avLst/>
              <a:gdLst/>
              <a:ahLst/>
              <a:cxnLst/>
              <a:rect l="0" t="0" r="0" b="0"/>
              <a:pathLst>
                <a:path w="2848356" h="384048">
                  <a:moveTo>
                    <a:pt x="0" y="192024"/>
                  </a:moveTo>
                  <a:cubicBezTo>
                    <a:pt x="0" y="86868"/>
                    <a:pt x="637032" y="0"/>
                    <a:pt x="1423416" y="0"/>
                  </a:cubicBezTo>
                  <a:cubicBezTo>
                    <a:pt x="2211324" y="0"/>
                    <a:pt x="2848356" y="86868"/>
                    <a:pt x="2848356" y="192024"/>
                  </a:cubicBezTo>
                  <a:cubicBezTo>
                    <a:pt x="2848356" y="298704"/>
                    <a:pt x="2211324" y="384048"/>
                    <a:pt x="1423416" y="384048"/>
                  </a:cubicBezTo>
                  <a:cubicBezTo>
                    <a:pt x="637032" y="384048"/>
                    <a:pt x="0" y="298704"/>
                    <a:pt x="0" y="192024"/>
                  </a:cubicBezTo>
                </a:path>
              </a:pathLst>
            </a:custGeom>
            <a:ln w="6096" cap="flat">
              <a:miter lim="101600"/>
            </a:ln>
          </p:spPr>
          <p:style>
            <a:lnRef idx="1">
              <a:srgbClr val="A5A5A5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BB96E782-8957-7B63-D4AD-14269B30CD12}"/>
                </a:ext>
              </a:extLst>
            </p:cNvPr>
            <p:cNvSpPr/>
            <p:nvPr/>
          </p:nvSpPr>
          <p:spPr>
            <a:xfrm>
              <a:off x="2969235" y="2465451"/>
              <a:ext cx="2285896" cy="17362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Manage</a:t>
              </a:r>
              <a:r>
                <a:rPr lang="en-IN" sz="1150" kern="100" spc="-5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IN" sz="115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Products</a:t>
              </a:r>
              <a:r>
                <a:rPr lang="en-IN" sz="1150" kern="100" spc="-1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IN" sz="115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(</a:t>
              </a:r>
              <a:r>
                <a:rPr lang="en-IN" sz="1150" kern="100" spc="5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IN" sz="115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Remove</a:t>
              </a:r>
              <a:r>
                <a:rPr lang="en-IN" sz="1150" kern="100" spc="5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IN" sz="115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)</a:t>
              </a:r>
              <a:r>
                <a:rPr lang="en-IN" sz="1150" kern="100" spc="5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en-IN" sz="115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pic>
          <p:nvPicPr>
            <p:cNvPr id="113" name="Picture 112">
              <a:extLst>
                <a:ext uri="{FF2B5EF4-FFF2-40B4-BE49-F238E27FC236}">
                  <a16:creationId xmlns:a16="http://schemas.microsoft.com/office/drawing/2014/main" id="{E8A23384-A78E-36A8-0BC4-F1B02D633F1A}"/>
                </a:ext>
              </a:extLst>
            </p:cNvPr>
            <p:cNvPicPr/>
            <p:nvPr/>
          </p:nvPicPr>
          <p:blipFill>
            <a:blip r:embed="rId18"/>
            <a:stretch>
              <a:fillRect/>
            </a:stretch>
          </p:blipFill>
          <p:spPr>
            <a:xfrm>
              <a:off x="2797550" y="2862580"/>
              <a:ext cx="2852928" cy="387097"/>
            </a:xfrm>
            <a:prstGeom prst="rect">
              <a:avLst/>
            </a:prstGeom>
          </p:spPr>
        </p:pic>
        <p:sp>
          <p:nvSpPr>
            <p:cNvPr id="114" name="Shape 2800">
              <a:extLst>
                <a:ext uri="{FF2B5EF4-FFF2-40B4-BE49-F238E27FC236}">
                  <a16:creationId xmlns:a16="http://schemas.microsoft.com/office/drawing/2014/main" id="{A6DC2F81-2341-7583-FB00-642575B4F225}"/>
                </a:ext>
              </a:extLst>
            </p:cNvPr>
            <p:cNvSpPr/>
            <p:nvPr/>
          </p:nvSpPr>
          <p:spPr>
            <a:xfrm>
              <a:off x="2801106" y="2865120"/>
              <a:ext cx="2848356" cy="384048"/>
            </a:xfrm>
            <a:custGeom>
              <a:avLst/>
              <a:gdLst/>
              <a:ahLst/>
              <a:cxnLst/>
              <a:rect l="0" t="0" r="0" b="0"/>
              <a:pathLst>
                <a:path w="2848356" h="384048">
                  <a:moveTo>
                    <a:pt x="0" y="192024"/>
                  </a:moveTo>
                  <a:cubicBezTo>
                    <a:pt x="0" y="86868"/>
                    <a:pt x="638556" y="0"/>
                    <a:pt x="1424940" y="0"/>
                  </a:cubicBezTo>
                  <a:cubicBezTo>
                    <a:pt x="2211324" y="0"/>
                    <a:pt x="2848356" y="86868"/>
                    <a:pt x="2848356" y="192024"/>
                  </a:cubicBezTo>
                  <a:cubicBezTo>
                    <a:pt x="2848356" y="298704"/>
                    <a:pt x="2211324" y="384048"/>
                    <a:pt x="1424940" y="384048"/>
                  </a:cubicBezTo>
                  <a:cubicBezTo>
                    <a:pt x="638556" y="384048"/>
                    <a:pt x="0" y="298704"/>
                    <a:pt x="0" y="192024"/>
                  </a:cubicBezTo>
                </a:path>
              </a:pathLst>
            </a:custGeom>
            <a:ln w="6096" cap="flat">
              <a:miter lim="101600"/>
            </a:ln>
          </p:spPr>
          <p:style>
            <a:lnRef idx="1">
              <a:srgbClr val="A5A5A5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A0E983E4-2AEA-3CDE-EE72-E6C0969C76D8}"/>
                </a:ext>
              </a:extLst>
            </p:cNvPr>
            <p:cNvSpPr/>
            <p:nvPr/>
          </p:nvSpPr>
          <p:spPr>
            <a:xfrm>
              <a:off x="3276139" y="3009461"/>
              <a:ext cx="1423676" cy="236110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Manage</a:t>
              </a:r>
              <a:r>
                <a:rPr lang="en-IN" sz="1150" kern="100" spc="-5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IN" sz="115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Orders </a:t>
              </a:r>
            </a:p>
          </p:txBody>
        </p:sp>
        <p:pic>
          <p:nvPicPr>
            <p:cNvPr id="116" name="Picture 115">
              <a:extLst>
                <a:ext uri="{FF2B5EF4-FFF2-40B4-BE49-F238E27FC236}">
                  <a16:creationId xmlns:a16="http://schemas.microsoft.com/office/drawing/2014/main" id="{AE5D984B-3860-FF15-132A-58C4B443A243}"/>
                </a:ext>
              </a:extLst>
            </p:cNvPr>
            <p:cNvPicPr/>
            <p:nvPr/>
          </p:nvPicPr>
          <p:blipFill>
            <a:blip r:embed="rId19"/>
            <a:stretch>
              <a:fillRect/>
            </a:stretch>
          </p:blipFill>
          <p:spPr>
            <a:xfrm>
              <a:off x="2803646" y="4008628"/>
              <a:ext cx="2849880" cy="387097"/>
            </a:xfrm>
            <a:prstGeom prst="rect">
              <a:avLst/>
            </a:prstGeom>
          </p:spPr>
        </p:pic>
        <p:sp>
          <p:nvSpPr>
            <p:cNvPr id="117" name="Shape 2804">
              <a:extLst>
                <a:ext uri="{FF2B5EF4-FFF2-40B4-BE49-F238E27FC236}">
                  <a16:creationId xmlns:a16="http://schemas.microsoft.com/office/drawing/2014/main" id="{50A157EE-6A40-6BDD-E828-165381255568}"/>
                </a:ext>
              </a:extLst>
            </p:cNvPr>
            <p:cNvSpPr/>
            <p:nvPr/>
          </p:nvSpPr>
          <p:spPr>
            <a:xfrm>
              <a:off x="2805678" y="4012692"/>
              <a:ext cx="2848356" cy="384048"/>
            </a:xfrm>
            <a:custGeom>
              <a:avLst/>
              <a:gdLst/>
              <a:ahLst/>
              <a:cxnLst/>
              <a:rect l="0" t="0" r="0" b="0"/>
              <a:pathLst>
                <a:path w="2848356" h="384048">
                  <a:moveTo>
                    <a:pt x="0" y="192024"/>
                  </a:moveTo>
                  <a:cubicBezTo>
                    <a:pt x="0" y="86868"/>
                    <a:pt x="637032" y="0"/>
                    <a:pt x="1424940" y="0"/>
                  </a:cubicBezTo>
                  <a:cubicBezTo>
                    <a:pt x="2211324" y="0"/>
                    <a:pt x="2848356" y="86868"/>
                    <a:pt x="2848356" y="192024"/>
                  </a:cubicBezTo>
                  <a:cubicBezTo>
                    <a:pt x="2848356" y="298704"/>
                    <a:pt x="2211324" y="384048"/>
                    <a:pt x="1424940" y="384048"/>
                  </a:cubicBezTo>
                  <a:cubicBezTo>
                    <a:pt x="637032" y="384048"/>
                    <a:pt x="0" y="298704"/>
                    <a:pt x="0" y="192024"/>
                  </a:cubicBezTo>
                </a:path>
              </a:pathLst>
            </a:custGeom>
            <a:ln w="6096" cap="flat">
              <a:miter lim="101600"/>
            </a:ln>
          </p:spPr>
          <p:style>
            <a:lnRef idx="1">
              <a:srgbClr val="A5A5A5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64EC1581-39D0-8620-90FB-27A630CEF30E}"/>
                </a:ext>
              </a:extLst>
            </p:cNvPr>
            <p:cNvSpPr/>
            <p:nvPr/>
          </p:nvSpPr>
          <p:spPr>
            <a:xfrm>
              <a:off x="3402756" y="4157082"/>
              <a:ext cx="1307962" cy="22797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View</a:t>
              </a:r>
              <a:r>
                <a:rPr lang="en-IN" sz="1150" kern="100" spc="-5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IN" sz="115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Reports </a:t>
              </a:r>
            </a:p>
          </p:txBody>
        </p:sp>
        <p:pic>
          <p:nvPicPr>
            <p:cNvPr id="119" name="Picture 118">
              <a:extLst>
                <a:ext uri="{FF2B5EF4-FFF2-40B4-BE49-F238E27FC236}">
                  <a16:creationId xmlns:a16="http://schemas.microsoft.com/office/drawing/2014/main" id="{575727F9-B8B5-4C28-981A-5C3AEEE85138}"/>
                </a:ext>
              </a:extLst>
            </p:cNvPr>
            <p:cNvPicPr/>
            <p:nvPr/>
          </p:nvPicPr>
          <p:blipFill>
            <a:blip r:embed="rId14"/>
            <a:stretch>
              <a:fillRect/>
            </a:stretch>
          </p:blipFill>
          <p:spPr>
            <a:xfrm>
              <a:off x="2812790" y="3437636"/>
              <a:ext cx="2849880" cy="387096"/>
            </a:xfrm>
            <a:prstGeom prst="rect">
              <a:avLst/>
            </a:prstGeom>
          </p:spPr>
        </p:pic>
        <p:sp>
          <p:nvSpPr>
            <p:cNvPr id="120" name="Shape 2808">
              <a:extLst>
                <a:ext uri="{FF2B5EF4-FFF2-40B4-BE49-F238E27FC236}">
                  <a16:creationId xmlns:a16="http://schemas.microsoft.com/office/drawing/2014/main" id="{2CEF367D-C343-1638-3247-59FCEEA10768}"/>
                </a:ext>
              </a:extLst>
            </p:cNvPr>
            <p:cNvSpPr/>
            <p:nvPr/>
          </p:nvSpPr>
          <p:spPr>
            <a:xfrm>
              <a:off x="2814822" y="3441192"/>
              <a:ext cx="2848356" cy="384048"/>
            </a:xfrm>
            <a:custGeom>
              <a:avLst/>
              <a:gdLst/>
              <a:ahLst/>
              <a:cxnLst/>
              <a:rect l="0" t="0" r="0" b="0"/>
              <a:pathLst>
                <a:path w="2848356" h="384048">
                  <a:moveTo>
                    <a:pt x="0" y="192024"/>
                  </a:moveTo>
                  <a:cubicBezTo>
                    <a:pt x="0" y="85344"/>
                    <a:pt x="638556" y="0"/>
                    <a:pt x="1424940" y="0"/>
                  </a:cubicBezTo>
                  <a:cubicBezTo>
                    <a:pt x="2211324" y="0"/>
                    <a:pt x="2848356" y="85344"/>
                    <a:pt x="2848356" y="192024"/>
                  </a:cubicBezTo>
                  <a:cubicBezTo>
                    <a:pt x="2848356" y="298704"/>
                    <a:pt x="2211324" y="384048"/>
                    <a:pt x="1424940" y="384048"/>
                  </a:cubicBezTo>
                  <a:cubicBezTo>
                    <a:pt x="638556" y="384048"/>
                    <a:pt x="0" y="298704"/>
                    <a:pt x="0" y="192024"/>
                  </a:cubicBezTo>
                </a:path>
              </a:pathLst>
            </a:custGeom>
            <a:ln w="6096" cap="flat">
              <a:miter lim="101600"/>
            </a:ln>
          </p:spPr>
          <p:style>
            <a:lnRef idx="1">
              <a:srgbClr val="A5A5A5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EEAB7377-A785-F177-3BD3-436D8BE531E5}"/>
                </a:ext>
              </a:extLst>
            </p:cNvPr>
            <p:cNvSpPr/>
            <p:nvPr/>
          </p:nvSpPr>
          <p:spPr>
            <a:xfrm>
              <a:off x="3276143" y="3584039"/>
              <a:ext cx="1639345" cy="167969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436245" marR="65405" indent="-6350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15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Manage</a:t>
              </a:r>
              <a:r>
                <a:rPr lang="en-IN" sz="1150" kern="100" spc="-5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IN" sz="1150" kern="1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Customers</a:t>
              </a:r>
              <a:r>
                <a:rPr lang="en-IN" sz="1150" kern="100" spc="1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en-IN" sz="115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22" name="Shape 2810">
              <a:extLst>
                <a:ext uri="{FF2B5EF4-FFF2-40B4-BE49-F238E27FC236}">
                  <a16:creationId xmlns:a16="http://schemas.microsoft.com/office/drawing/2014/main" id="{C70C489B-692E-3338-EFEF-85C25CB09B54}"/>
                </a:ext>
              </a:extLst>
            </p:cNvPr>
            <p:cNvSpPr/>
            <p:nvPr/>
          </p:nvSpPr>
          <p:spPr>
            <a:xfrm>
              <a:off x="1399026" y="841248"/>
              <a:ext cx="1280160" cy="1360932"/>
            </a:xfrm>
            <a:custGeom>
              <a:avLst/>
              <a:gdLst/>
              <a:ahLst/>
              <a:cxnLst/>
              <a:rect l="0" t="0" r="0" b="0"/>
              <a:pathLst>
                <a:path w="1280160" h="1360932">
                  <a:moveTo>
                    <a:pt x="1280160" y="0"/>
                  </a:moveTo>
                  <a:lnTo>
                    <a:pt x="1255776" y="76200"/>
                  </a:lnTo>
                  <a:lnTo>
                    <a:pt x="1231735" y="53573"/>
                  </a:lnTo>
                  <a:lnTo>
                    <a:pt x="4572" y="1360932"/>
                  </a:lnTo>
                  <a:lnTo>
                    <a:pt x="0" y="1357884"/>
                  </a:lnTo>
                  <a:lnTo>
                    <a:pt x="1227788" y="49858"/>
                  </a:lnTo>
                  <a:lnTo>
                    <a:pt x="1203960" y="27432"/>
                  </a:lnTo>
                  <a:lnTo>
                    <a:pt x="128016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23" name="Shape 2811">
              <a:extLst>
                <a:ext uri="{FF2B5EF4-FFF2-40B4-BE49-F238E27FC236}">
                  <a16:creationId xmlns:a16="http://schemas.microsoft.com/office/drawing/2014/main" id="{4D464266-463E-00B3-EB2E-1B9CF4EB7E7A}"/>
                </a:ext>
              </a:extLst>
            </p:cNvPr>
            <p:cNvSpPr/>
            <p:nvPr/>
          </p:nvSpPr>
          <p:spPr>
            <a:xfrm>
              <a:off x="1412741" y="1399032"/>
              <a:ext cx="1271016" cy="781812"/>
            </a:xfrm>
            <a:custGeom>
              <a:avLst/>
              <a:gdLst/>
              <a:ahLst/>
              <a:cxnLst/>
              <a:rect l="0" t="0" r="0" b="0"/>
              <a:pathLst>
                <a:path w="1271016" h="781812">
                  <a:moveTo>
                    <a:pt x="1271016" y="0"/>
                  </a:moveTo>
                  <a:lnTo>
                    <a:pt x="1229868" y="68580"/>
                  </a:lnTo>
                  <a:lnTo>
                    <a:pt x="1211922" y="39866"/>
                  </a:lnTo>
                  <a:lnTo>
                    <a:pt x="3048" y="781812"/>
                  </a:lnTo>
                  <a:lnTo>
                    <a:pt x="0" y="775716"/>
                  </a:lnTo>
                  <a:lnTo>
                    <a:pt x="1209006" y="35200"/>
                  </a:lnTo>
                  <a:lnTo>
                    <a:pt x="1191768" y="7620"/>
                  </a:lnTo>
                  <a:lnTo>
                    <a:pt x="1271016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24" name="Shape 2812">
              <a:extLst>
                <a:ext uri="{FF2B5EF4-FFF2-40B4-BE49-F238E27FC236}">
                  <a16:creationId xmlns:a16="http://schemas.microsoft.com/office/drawing/2014/main" id="{CDEC2240-D821-CD4A-DDCA-E456D8E8EB7F}"/>
                </a:ext>
              </a:extLst>
            </p:cNvPr>
            <p:cNvSpPr/>
            <p:nvPr/>
          </p:nvSpPr>
          <p:spPr>
            <a:xfrm>
              <a:off x="1406646" y="1914144"/>
              <a:ext cx="1284732" cy="289560"/>
            </a:xfrm>
            <a:custGeom>
              <a:avLst/>
              <a:gdLst/>
              <a:ahLst/>
              <a:cxnLst/>
              <a:rect l="0" t="0" r="0" b="0"/>
              <a:pathLst>
                <a:path w="1284732" h="289560">
                  <a:moveTo>
                    <a:pt x="1207008" y="0"/>
                  </a:moveTo>
                  <a:lnTo>
                    <a:pt x="1284732" y="19812"/>
                  </a:lnTo>
                  <a:lnTo>
                    <a:pt x="1222248" y="70104"/>
                  </a:lnTo>
                  <a:lnTo>
                    <a:pt x="1215155" y="37475"/>
                  </a:lnTo>
                  <a:lnTo>
                    <a:pt x="1524" y="289560"/>
                  </a:lnTo>
                  <a:lnTo>
                    <a:pt x="0" y="283464"/>
                  </a:lnTo>
                  <a:lnTo>
                    <a:pt x="1213821" y="31340"/>
                  </a:lnTo>
                  <a:lnTo>
                    <a:pt x="1207008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25" name="Shape 2813">
              <a:extLst>
                <a:ext uri="{FF2B5EF4-FFF2-40B4-BE49-F238E27FC236}">
                  <a16:creationId xmlns:a16="http://schemas.microsoft.com/office/drawing/2014/main" id="{4D52BF11-1D9A-0989-DD0B-41705092EBCE}"/>
                </a:ext>
              </a:extLst>
            </p:cNvPr>
            <p:cNvSpPr/>
            <p:nvPr/>
          </p:nvSpPr>
          <p:spPr>
            <a:xfrm>
              <a:off x="1412742" y="2194560"/>
              <a:ext cx="1304544" cy="361188"/>
            </a:xfrm>
            <a:custGeom>
              <a:avLst/>
              <a:gdLst/>
              <a:ahLst/>
              <a:cxnLst/>
              <a:rect l="0" t="0" r="0" b="0"/>
              <a:pathLst>
                <a:path w="1304544" h="361188">
                  <a:moveTo>
                    <a:pt x="1524" y="0"/>
                  </a:moveTo>
                  <a:lnTo>
                    <a:pt x="1236743" y="323150"/>
                  </a:lnTo>
                  <a:lnTo>
                    <a:pt x="1245108" y="291084"/>
                  </a:lnTo>
                  <a:lnTo>
                    <a:pt x="1304544" y="344424"/>
                  </a:lnTo>
                  <a:lnTo>
                    <a:pt x="1226820" y="361188"/>
                  </a:lnTo>
                  <a:lnTo>
                    <a:pt x="1235157" y="329230"/>
                  </a:lnTo>
                  <a:lnTo>
                    <a:pt x="0" y="6096"/>
                  </a:lnTo>
                  <a:lnTo>
                    <a:pt x="1524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26" name="Shape 2814">
              <a:extLst>
                <a:ext uri="{FF2B5EF4-FFF2-40B4-BE49-F238E27FC236}">
                  <a16:creationId xmlns:a16="http://schemas.microsoft.com/office/drawing/2014/main" id="{0BF7BC03-228B-F84C-AA89-6A246B7BB309}"/>
                </a:ext>
              </a:extLst>
            </p:cNvPr>
            <p:cNvSpPr/>
            <p:nvPr/>
          </p:nvSpPr>
          <p:spPr>
            <a:xfrm>
              <a:off x="1399025" y="2215896"/>
              <a:ext cx="1339596" cy="862584"/>
            </a:xfrm>
            <a:custGeom>
              <a:avLst/>
              <a:gdLst/>
              <a:ahLst/>
              <a:cxnLst/>
              <a:rect l="0" t="0" r="0" b="0"/>
              <a:pathLst>
                <a:path w="1339596" h="862584">
                  <a:moveTo>
                    <a:pt x="3048" y="0"/>
                  </a:moveTo>
                  <a:lnTo>
                    <a:pt x="1280515" y="820905"/>
                  </a:lnTo>
                  <a:lnTo>
                    <a:pt x="1298448" y="794004"/>
                  </a:lnTo>
                  <a:lnTo>
                    <a:pt x="1339596" y="862584"/>
                  </a:lnTo>
                  <a:lnTo>
                    <a:pt x="1258824" y="853440"/>
                  </a:lnTo>
                  <a:lnTo>
                    <a:pt x="1277466" y="825477"/>
                  </a:lnTo>
                  <a:lnTo>
                    <a:pt x="0" y="4572"/>
                  </a:lnTo>
                  <a:lnTo>
                    <a:pt x="3048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27" name="Shape 2815">
              <a:extLst>
                <a:ext uri="{FF2B5EF4-FFF2-40B4-BE49-F238E27FC236}">
                  <a16:creationId xmlns:a16="http://schemas.microsoft.com/office/drawing/2014/main" id="{369485D0-FFED-F46F-8EFB-5D02A436A186}"/>
                </a:ext>
              </a:extLst>
            </p:cNvPr>
            <p:cNvSpPr/>
            <p:nvPr/>
          </p:nvSpPr>
          <p:spPr>
            <a:xfrm>
              <a:off x="1371594" y="2196084"/>
              <a:ext cx="1327404" cy="1455420"/>
            </a:xfrm>
            <a:custGeom>
              <a:avLst/>
              <a:gdLst/>
              <a:ahLst/>
              <a:cxnLst/>
              <a:rect l="0" t="0" r="0" b="0"/>
              <a:pathLst>
                <a:path w="1327404" h="1455420">
                  <a:moveTo>
                    <a:pt x="4572" y="0"/>
                  </a:moveTo>
                  <a:lnTo>
                    <a:pt x="1280321" y="1399843"/>
                  </a:lnTo>
                  <a:lnTo>
                    <a:pt x="1304544" y="1377696"/>
                  </a:lnTo>
                  <a:lnTo>
                    <a:pt x="1327404" y="1455420"/>
                  </a:lnTo>
                  <a:lnTo>
                    <a:pt x="1251204" y="1426464"/>
                  </a:lnTo>
                  <a:lnTo>
                    <a:pt x="1276306" y="1403513"/>
                  </a:lnTo>
                  <a:lnTo>
                    <a:pt x="0" y="4572"/>
                  </a:lnTo>
                  <a:lnTo>
                    <a:pt x="4572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28" name="Shape 2816">
              <a:extLst>
                <a:ext uri="{FF2B5EF4-FFF2-40B4-BE49-F238E27FC236}">
                  <a16:creationId xmlns:a16="http://schemas.microsoft.com/office/drawing/2014/main" id="{7A6E1B9E-6640-FA81-E6DC-6C5D81364AE0}"/>
                </a:ext>
              </a:extLst>
            </p:cNvPr>
            <p:cNvSpPr/>
            <p:nvPr/>
          </p:nvSpPr>
          <p:spPr>
            <a:xfrm>
              <a:off x="1371594" y="2215896"/>
              <a:ext cx="1353312" cy="1962912"/>
            </a:xfrm>
            <a:custGeom>
              <a:avLst/>
              <a:gdLst/>
              <a:ahLst/>
              <a:cxnLst/>
              <a:rect l="0" t="0" r="0" b="0"/>
              <a:pathLst>
                <a:path w="1353312" h="1962912">
                  <a:moveTo>
                    <a:pt x="4572" y="0"/>
                  </a:moveTo>
                  <a:lnTo>
                    <a:pt x="1315721" y="1902303"/>
                  </a:lnTo>
                  <a:lnTo>
                    <a:pt x="1342644" y="1883664"/>
                  </a:lnTo>
                  <a:lnTo>
                    <a:pt x="1353312" y="1962912"/>
                  </a:lnTo>
                  <a:lnTo>
                    <a:pt x="1283208" y="1924812"/>
                  </a:lnTo>
                  <a:lnTo>
                    <a:pt x="1310174" y="1906143"/>
                  </a:lnTo>
                  <a:lnTo>
                    <a:pt x="0" y="4572"/>
                  </a:lnTo>
                  <a:lnTo>
                    <a:pt x="4572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087806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C1ADFB-0D29-3DE9-FA17-99113824F224}"/>
              </a:ext>
            </a:extLst>
          </p:cNvPr>
          <p:cNvPicPr/>
          <p:nvPr/>
        </p:nvPicPr>
        <p:blipFill>
          <a:blip r:embed="rId3"/>
          <a:srcRect t="11156" b="11105"/>
          <a:stretch>
            <a:fillRect/>
          </a:stretch>
        </p:blipFill>
        <p:spPr>
          <a:xfrm>
            <a:off x="98474" y="450164"/>
            <a:ext cx="4234375" cy="7877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8C8E3C-B397-5977-FC0E-0C3B61822B77}"/>
              </a:ext>
            </a:extLst>
          </p:cNvPr>
          <p:cNvSpPr txBox="1"/>
          <p:nvPr/>
        </p:nvSpPr>
        <p:spPr>
          <a:xfrm>
            <a:off x="1266091" y="142387"/>
            <a:ext cx="17021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Context-level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3EE79E9-EC28-163B-3773-FE30F3C8095A}"/>
              </a:ext>
            </a:extLst>
          </p:cNvPr>
          <p:cNvGrpSpPr/>
          <p:nvPr/>
        </p:nvGrpSpPr>
        <p:grpSpPr>
          <a:xfrm>
            <a:off x="98474" y="1545732"/>
            <a:ext cx="4332849" cy="5169881"/>
            <a:chOff x="0" y="0"/>
            <a:chExt cx="5775961" cy="516026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DC6752E-443A-6282-B1F5-F67721A6FCCC}"/>
                </a:ext>
              </a:extLst>
            </p:cNvPr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5775961" cy="1290828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6E692B7-1D56-EF0B-378C-2A481096FFA5}"/>
                </a:ext>
              </a:extLst>
            </p:cNvPr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0" y="1290828"/>
              <a:ext cx="5775961" cy="1290828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B0347E-7E78-B57F-921A-B2C7A3765AD5}"/>
                </a:ext>
              </a:extLst>
            </p:cNvPr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0" y="2581656"/>
              <a:ext cx="5775961" cy="129082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E0B6FAC-B352-D503-09C3-DD04531C0AA9}"/>
                </a:ext>
              </a:extLst>
            </p:cNvPr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0" y="3872485"/>
              <a:ext cx="5775961" cy="1287780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EC46ACF-9DD6-2F54-B5A7-6C5448102342}"/>
              </a:ext>
            </a:extLst>
          </p:cNvPr>
          <p:cNvGrpSpPr/>
          <p:nvPr/>
        </p:nvGrpSpPr>
        <p:grpSpPr>
          <a:xfrm>
            <a:off x="5012791" y="104029"/>
            <a:ext cx="3212122" cy="3286613"/>
            <a:chOff x="5322036" y="549246"/>
            <a:chExt cx="5350136" cy="562616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30BCC48E-646A-F2FC-A266-40127471DDD8}"/>
                </a:ext>
              </a:extLst>
            </p:cNvPr>
            <p:cNvPicPr/>
            <p:nvPr/>
          </p:nvPicPr>
          <p:blipFill>
            <a:blip r:embed="rId8"/>
            <a:srcRect l="5801" t="19111" r="11807"/>
            <a:stretch>
              <a:fillRect/>
            </a:stretch>
          </p:blipFill>
          <p:spPr>
            <a:xfrm>
              <a:off x="5322036" y="549246"/>
              <a:ext cx="5350136" cy="1313907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2F2688EE-5891-E599-F9A0-3DBDD40EC691}"/>
                </a:ext>
              </a:extLst>
            </p:cNvPr>
            <p:cNvPicPr/>
            <p:nvPr/>
          </p:nvPicPr>
          <p:blipFill>
            <a:blip r:embed="rId9"/>
            <a:srcRect l="5801" r="11807"/>
            <a:stretch>
              <a:fillRect/>
            </a:stretch>
          </p:blipFill>
          <p:spPr>
            <a:xfrm>
              <a:off x="5322036" y="1863155"/>
              <a:ext cx="5350135" cy="1624330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459C6FE1-2633-BF2C-A59B-A7B98C87E661}"/>
                </a:ext>
              </a:extLst>
            </p:cNvPr>
            <p:cNvPicPr/>
            <p:nvPr/>
          </p:nvPicPr>
          <p:blipFill>
            <a:blip r:embed="rId10"/>
            <a:srcRect l="5801" r="11807"/>
            <a:stretch>
              <a:fillRect/>
            </a:stretch>
          </p:blipFill>
          <p:spPr>
            <a:xfrm>
              <a:off x="5322036" y="3488121"/>
              <a:ext cx="5350135" cy="1624330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9885841A-B94C-7E01-FC39-CD2774E6C98E}"/>
                </a:ext>
              </a:extLst>
            </p:cNvPr>
            <p:cNvPicPr/>
            <p:nvPr/>
          </p:nvPicPr>
          <p:blipFill>
            <a:blip r:embed="rId11"/>
            <a:srcRect l="5801" r="11807" b="34381"/>
            <a:stretch>
              <a:fillRect/>
            </a:stretch>
          </p:blipFill>
          <p:spPr>
            <a:xfrm>
              <a:off x="5322036" y="5112450"/>
              <a:ext cx="5350135" cy="1062961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9E3B5CC-3756-CD89-41A1-A90CE5A028C7}"/>
              </a:ext>
            </a:extLst>
          </p:cNvPr>
          <p:cNvGrpSpPr/>
          <p:nvPr/>
        </p:nvGrpSpPr>
        <p:grpSpPr>
          <a:xfrm>
            <a:off x="5012792" y="3639064"/>
            <a:ext cx="3212121" cy="3227685"/>
            <a:chOff x="3249637" y="548640"/>
            <a:chExt cx="5824025" cy="4876790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3C55B049-E5F5-C439-0BEC-D61769869438}"/>
                </a:ext>
              </a:extLst>
            </p:cNvPr>
            <p:cNvPicPr/>
            <p:nvPr/>
          </p:nvPicPr>
          <p:blipFill>
            <a:blip r:embed="rId12"/>
            <a:srcRect l="4049" t="6996" r="1930"/>
            <a:stretch>
              <a:fillRect/>
            </a:stretch>
          </p:blipFill>
          <p:spPr>
            <a:xfrm>
              <a:off x="3249637" y="548640"/>
              <a:ext cx="5824025" cy="2882583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05FB0606-18E4-9B6D-9C44-95DCB173BBD8}"/>
                </a:ext>
              </a:extLst>
            </p:cNvPr>
            <p:cNvPicPr/>
            <p:nvPr/>
          </p:nvPicPr>
          <p:blipFill>
            <a:blip r:embed="rId13"/>
            <a:srcRect l="6321" r="1930"/>
            <a:stretch>
              <a:fillRect/>
            </a:stretch>
          </p:blipFill>
          <p:spPr>
            <a:xfrm>
              <a:off x="3390314" y="3431223"/>
              <a:ext cx="5683348" cy="1549400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D8385CB9-4499-69BD-ABD6-EC368DFA6E51}"/>
                </a:ext>
              </a:extLst>
            </p:cNvPr>
            <p:cNvPicPr/>
            <p:nvPr/>
          </p:nvPicPr>
          <p:blipFill>
            <a:blip r:embed="rId14"/>
            <a:srcRect l="4049" r="1930" b="71250"/>
            <a:stretch>
              <a:fillRect/>
            </a:stretch>
          </p:blipFill>
          <p:spPr>
            <a:xfrm>
              <a:off x="3249637" y="4981259"/>
              <a:ext cx="5824025" cy="444171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5222834-1EE4-09F7-DBBE-DF37C25FD05E}"/>
              </a:ext>
            </a:extLst>
          </p:cNvPr>
          <p:cNvGrpSpPr/>
          <p:nvPr/>
        </p:nvGrpSpPr>
        <p:grpSpPr>
          <a:xfrm>
            <a:off x="8525027" y="214286"/>
            <a:ext cx="3376241" cy="3424778"/>
            <a:chOff x="3277770" y="562708"/>
            <a:chExt cx="5781824" cy="4749561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1EBF8271-6C43-BF0B-28CE-A666BF0A7DF1}"/>
                </a:ext>
              </a:extLst>
            </p:cNvPr>
            <p:cNvPicPr/>
            <p:nvPr/>
          </p:nvPicPr>
          <p:blipFill>
            <a:blip r:embed="rId15"/>
            <a:srcRect l="4096" t="6617" r="1726"/>
            <a:stretch>
              <a:fillRect/>
            </a:stretch>
          </p:blipFill>
          <p:spPr>
            <a:xfrm>
              <a:off x="3277772" y="562708"/>
              <a:ext cx="5781822" cy="2868832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46725BB3-291A-26BE-F4E9-C43F50667A20}"/>
                </a:ext>
              </a:extLst>
            </p:cNvPr>
            <p:cNvPicPr/>
            <p:nvPr/>
          </p:nvPicPr>
          <p:blipFill>
            <a:blip r:embed="rId16"/>
            <a:srcRect l="4095" r="1725"/>
            <a:stretch>
              <a:fillRect/>
            </a:stretch>
          </p:blipFill>
          <p:spPr>
            <a:xfrm>
              <a:off x="3277770" y="3431540"/>
              <a:ext cx="5781823" cy="1536065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58F83FA7-02BB-7A36-35D7-13763707DC5B}"/>
                </a:ext>
              </a:extLst>
            </p:cNvPr>
            <p:cNvPicPr/>
            <p:nvPr/>
          </p:nvPicPr>
          <p:blipFill>
            <a:blip r:embed="rId17"/>
            <a:srcRect l="4095" r="1725" b="77487"/>
            <a:stretch>
              <a:fillRect/>
            </a:stretch>
          </p:blipFill>
          <p:spPr>
            <a:xfrm>
              <a:off x="3277770" y="4967606"/>
              <a:ext cx="5781823" cy="344663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A97AE29-D3E7-92F5-7325-93762A982321}"/>
              </a:ext>
            </a:extLst>
          </p:cNvPr>
          <p:cNvGrpSpPr/>
          <p:nvPr/>
        </p:nvGrpSpPr>
        <p:grpSpPr>
          <a:xfrm>
            <a:off x="8766734" y="3784209"/>
            <a:ext cx="3134533" cy="3082539"/>
            <a:chOff x="3268396" y="548640"/>
            <a:chExt cx="5847469" cy="4751038"/>
          </a:xfrm>
        </p:grpSpPr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4B9AC878-B248-68C3-C983-391472D706AE}"/>
                </a:ext>
              </a:extLst>
            </p:cNvPr>
            <p:cNvPicPr/>
            <p:nvPr/>
          </p:nvPicPr>
          <p:blipFill>
            <a:blip r:embed="rId18"/>
            <a:srcRect l="5125" t="8584" r="2074"/>
            <a:stretch>
              <a:fillRect/>
            </a:stretch>
          </p:blipFill>
          <p:spPr>
            <a:xfrm>
              <a:off x="3268396" y="548640"/>
              <a:ext cx="5847469" cy="2880995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1A2853C4-D80B-1E05-0494-6C4E40F2D4FE}"/>
                </a:ext>
              </a:extLst>
            </p:cNvPr>
            <p:cNvPicPr/>
            <p:nvPr/>
          </p:nvPicPr>
          <p:blipFill>
            <a:blip r:embed="rId19"/>
            <a:srcRect l="5125" r="2074"/>
            <a:stretch>
              <a:fillRect/>
            </a:stretch>
          </p:blipFill>
          <p:spPr>
            <a:xfrm>
              <a:off x="3268396" y="3429635"/>
              <a:ext cx="5847469" cy="1575435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B7C4A564-844E-FE6B-069B-2AA222BB229A}"/>
                </a:ext>
              </a:extLst>
            </p:cNvPr>
            <p:cNvPicPr/>
            <p:nvPr/>
          </p:nvPicPr>
          <p:blipFill>
            <a:blip r:embed="rId20"/>
            <a:srcRect l="5125" r="2074" b="81325"/>
            <a:stretch>
              <a:fillRect/>
            </a:stretch>
          </p:blipFill>
          <p:spPr>
            <a:xfrm>
              <a:off x="3268396" y="5005705"/>
              <a:ext cx="5847469" cy="2939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16999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3"/>
          <p:cNvSpPr txBox="1"/>
          <p:nvPr/>
        </p:nvSpPr>
        <p:spPr>
          <a:xfrm>
            <a:off x="571500" y="1790700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We followed a structured System Development Life Cycle (SDLC):</a:t>
            </a:r>
            <a:endParaRPr dirty="0"/>
          </a:p>
        </p:txBody>
      </p:sp>
      <p:pic>
        <p:nvPicPr>
          <p:cNvPr id="292" name="Google Shape;29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6305550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3"/>
          <p:cNvSpPr txBox="1"/>
          <p:nvPr/>
        </p:nvSpPr>
        <p:spPr>
          <a:xfrm>
            <a:off x="771525" y="6181725"/>
            <a:ext cx="110394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 dirty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Our methodology strictly followed the SDLC phases: from gathering requirements and analyzing feasibility, to detailed planning, designing, coding, and testing.</a:t>
            </a:r>
            <a:endParaRPr dirty="0"/>
          </a:p>
        </p:txBody>
      </p:sp>
      <p:sp>
        <p:nvSpPr>
          <p:cNvPr id="294" name="Google Shape;294;p23"/>
          <p:cNvSpPr/>
          <p:nvPr/>
        </p:nvSpPr>
        <p:spPr>
          <a:xfrm>
            <a:off x="571500" y="4105275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3"/>
          <p:cNvSpPr txBox="1"/>
          <p:nvPr/>
        </p:nvSpPr>
        <p:spPr>
          <a:xfrm>
            <a:off x="527305" y="4410075"/>
            <a:ext cx="185616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Gathering</a:t>
            </a:r>
            <a:endParaRPr dirty="0"/>
          </a:p>
        </p:txBody>
      </p:sp>
      <p:sp>
        <p:nvSpPr>
          <p:cNvPr id="296" name="Google Shape;296;p23"/>
          <p:cNvSpPr txBox="1"/>
          <p:nvPr/>
        </p:nvSpPr>
        <p:spPr>
          <a:xfrm>
            <a:off x="571500" y="4848225"/>
            <a:ext cx="17677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Defining functional and non-functional requirements.</a:t>
            </a:r>
            <a:endParaRPr dirty="0"/>
          </a:p>
        </p:txBody>
      </p:sp>
      <p:sp>
        <p:nvSpPr>
          <p:cNvPr id="297" name="Google Shape;297;p23"/>
          <p:cNvSpPr txBox="1"/>
          <p:nvPr/>
        </p:nvSpPr>
        <p:spPr>
          <a:xfrm>
            <a:off x="2383489" y="2790825"/>
            <a:ext cx="185616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Analysis</a:t>
            </a:r>
            <a:endParaRPr dirty="0"/>
          </a:p>
        </p:txBody>
      </p:sp>
      <p:sp>
        <p:nvSpPr>
          <p:cNvPr id="298" name="Google Shape;298;p23"/>
          <p:cNvSpPr txBox="1"/>
          <p:nvPr/>
        </p:nvSpPr>
        <p:spPr>
          <a:xfrm>
            <a:off x="2427684" y="3228975"/>
            <a:ext cx="17677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Feasibility study and risk assessment.</a:t>
            </a:r>
            <a:endParaRPr dirty="0"/>
          </a:p>
        </p:txBody>
      </p:sp>
      <p:sp>
        <p:nvSpPr>
          <p:cNvPr id="299" name="Google Shape;299;p23"/>
          <p:cNvSpPr txBox="1"/>
          <p:nvPr/>
        </p:nvSpPr>
        <p:spPr>
          <a:xfrm>
            <a:off x="4239674" y="4410075"/>
            <a:ext cx="185616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Planning</a:t>
            </a:r>
            <a:endParaRPr dirty="0"/>
          </a:p>
        </p:txBody>
      </p:sp>
      <p:sp>
        <p:nvSpPr>
          <p:cNvPr id="300" name="Google Shape;300;p23"/>
          <p:cNvSpPr txBox="1"/>
          <p:nvPr/>
        </p:nvSpPr>
        <p:spPr>
          <a:xfrm>
            <a:off x="4283868" y="4848225"/>
            <a:ext cx="17677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Designing UMLs, DFDs, and database schemas.</a:t>
            </a:r>
            <a:endParaRPr dirty="0"/>
          </a:p>
        </p:txBody>
      </p:sp>
      <p:sp>
        <p:nvSpPr>
          <p:cNvPr id="301" name="Google Shape;301;p23"/>
          <p:cNvSpPr txBox="1"/>
          <p:nvPr/>
        </p:nvSpPr>
        <p:spPr>
          <a:xfrm>
            <a:off x="6095858" y="2790825"/>
            <a:ext cx="185616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Designing</a:t>
            </a:r>
            <a:endParaRPr dirty="0"/>
          </a:p>
        </p:txBody>
      </p:sp>
      <p:sp>
        <p:nvSpPr>
          <p:cNvPr id="302" name="Google Shape;302;p23"/>
          <p:cNvSpPr txBox="1"/>
          <p:nvPr/>
        </p:nvSpPr>
        <p:spPr>
          <a:xfrm>
            <a:off x="6140053" y="3228975"/>
            <a:ext cx="17677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Creating UI layouts with Tailwind CSS.</a:t>
            </a:r>
            <a:endParaRPr dirty="0"/>
          </a:p>
        </p:txBody>
      </p:sp>
      <p:sp>
        <p:nvSpPr>
          <p:cNvPr id="303" name="Google Shape;303;p23"/>
          <p:cNvSpPr txBox="1"/>
          <p:nvPr/>
        </p:nvSpPr>
        <p:spPr>
          <a:xfrm>
            <a:off x="7952042" y="4410075"/>
            <a:ext cx="185616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Coding</a:t>
            </a:r>
            <a:endParaRPr dirty="0"/>
          </a:p>
        </p:txBody>
      </p:sp>
      <p:sp>
        <p:nvSpPr>
          <p:cNvPr id="304" name="Google Shape;304;p23"/>
          <p:cNvSpPr txBox="1"/>
          <p:nvPr/>
        </p:nvSpPr>
        <p:spPr>
          <a:xfrm>
            <a:off x="7996237" y="4848225"/>
            <a:ext cx="17677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Integrating APIs with Angular frontend.</a:t>
            </a:r>
            <a:endParaRPr dirty="0"/>
          </a:p>
        </p:txBody>
      </p:sp>
      <p:sp>
        <p:nvSpPr>
          <p:cNvPr id="305" name="Google Shape;305;p23"/>
          <p:cNvSpPr txBox="1"/>
          <p:nvPr/>
        </p:nvSpPr>
        <p:spPr>
          <a:xfrm>
            <a:off x="9808227" y="2562225"/>
            <a:ext cx="185616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Testing</a:t>
            </a:r>
            <a:endParaRPr dirty="0"/>
          </a:p>
        </p:txBody>
      </p:sp>
      <p:sp>
        <p:nvSpPr>
          <p:cNvPr id="306" name="Google Shape;306;p23"/>
          <p:cNvSpPr txBox="1"/>
          <p:nvPr/>
        </p:nvSpPr>
        <p:spPr>
          <a:xfrm>
            <a:off x="9852421" y="3000375"/>
            <a:ext cx="17677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Validating modules for bugs and responsiveness.</a:t>
            </a:r>
            <a:endParaRPr dirty="0"/>
          </a:p>
        </p:txBody>
      </p:sp>
      <p:sp>
        <p:nvSpPr>
          <p:cNvPr id="307" name="Google Shape;307;p23"/>
          <p:cNvSpPr txBox="1"/>
          <p:nvPr/>
        </p:nvSpPr>
        <p:spPr>
          <a:xfrm>
            <a:off x="571500" y="476250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Process &amp; Methodology</a:t>
            </a:r>
            <a:endParaRPr dirty="0"/>
          </a:p>
        </p:txBody>
      </p:sp>
      <p:sp>
        <p:nvSpPr>
          <p:cNvPr id="308" name="Google Shape;308;p23"/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3"/>
          <p:cNvSpPr/>
          <p:nvPr/>
        </p:nvSpPr>
        <p:spPr>
          <a:xfrm>
            <a:off x="1341090" y="40100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1E3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3"/>
          <p:cNvSpPr/>
          <p:nvPr/>
        </p:nvSpPr>
        <p:spPr>
          <a:xfrm>
            <a:off x="3197274" y="40100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1E3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3"/>
          <p:cNvSpPr/>
          <p:nvPr/>
        </p:nvSpPr>
        <p:spPr>
          <a:xfrm>
            <a:off x="5053458" y="40100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1E3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3"/>
          <p:cNvSpPr/>
          <p:nvPr/>
        </p:nvSpPr>
        <p:spPr>
          <a:xfrm>
            <a:off x="6909643" y="40100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1E3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3"/>
          <p:cNvSpPr/>
          <p:nvPr/>
        </p:nvSpPr>
        <p:spPr>
          <a:xfrm>
            <a:off x="8765827" y="40100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1E3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3"/>
          <p:cNvSpPr/>
          <p:nvPr/>
        </p:nvSpPr>
        <p:spPr>
          <a:xfrm>
            <a:off x="10622012" y="40100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1E3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757362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235210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4"/>
          <p:cNvSpPr txBox="1"/>
          <p:nvPr/>
        </p:nvSpPr>
        <p:spPr>
          <a:xfrm>
            <a:off x="771525" y="6181725"/>
            <a:ext cx="110394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 dirty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customer module allows users to browse with dynamic filters, manage their cart seamlessly, process payments securely, and track their active orders.</a:t>
            </a:r>
            <a:endParaRPr dirty="0"/>
          </a:p>
        </p:txBody>
      </p:sp>
      <p:sp>
        <p:nvSpPr>
          <p:cNvPr id="322" name="Google Shape;322;p24"/>
          <p:cNvSpPr txBox="1"/>
          <p:nvPr/>
        </p:nvSpPr>
        <p:spPr>
          <a:xfrm>
            <a:off x="809625" y="1014412"/>
            <a:ext cx="4572000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Product Search: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Dynamic browsing with advanced filtering by brand, price, and movement type.</a:t>
            </a:r>
            <a:endParaRPr dirty="0"/>
          </a:p>
        </p:txBody>
      </p:sp>
      <p:sp>
        <p:nvSpPr>
          <p:cNvPr id="323" name="Google Shape;323;p24"/>
          <p:cNvSpPr txBox="1"/>
          <p:nvPr/>
        </p:nvSpPr>
        <p:spPr>
          <a:xfrm>
            <a:off x="809625" y="2224087"/>
            <a:ext cx="457200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Cart &amp; Wishlist: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Reload-free shopping cart management and personal wishlist curation.</a:t>
            </a:r>
            <a:endParaRPr dirty="0"/>
          </a:p>
        </p:txBody>
      </p:sp>
      <p:sp>
        <p:nvSpPr>
          <p:cNvPr id="324" name="Google Shape;324;p24"/>
          <p:cNvSpPr txBox="1"/>
          <p:nvPr/>
        </p:nvSpPr>
        <p:spPr>
          <a:xfrm>
            <a:off x="809625" y="3119437"/>
            <a:ext cx="4572000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Secure Payment: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Integration with secure payment gateways and transparent luxury tax calculation.</a:t>
            </a:r>
            <a:endParaRPr/>
          </a:p>
        </p:txBody>
      </p:sp>
      <p:sp>
        <p:nvSpPr>
          <p:cNvPr id="325" name="Google Shape;325;p24"/>
          <p:cNvSpPr txBox="1"/>
          <p:nvPr/>
        </p:nvSpPr>
        <p:spPr>
          <a:xfrm>
            <a:off x="809625" y="4329112"/>
            <a:ext cx="457200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Order Tracking: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Real-time tracking of fulfillment status and digital invoice downloads.</a:t>
            </a:r>
            <a:endParaRPr/>
          </a:p>
        </p:txBody>
      </p:sp>
      <p:sp>
        <p:nvSpPr>
          <p:cNvPr id="326" name="Google Shape;326;p24"/>
          <p:cNvSpPr txBox="1"/>
          <p:nvPr/>
        </p:nvSpPr>
        <p:spPr>
          <a:xfrm>
            <a:off x="809625" y="5224462"/>
            <a:ext cx="457200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Reviews: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Authenticated customers can submit verified star ratings to build community trust.</a:t>
            </a:r>
            <a:endParaRPr/>
          </a:p>
        </p:txBody>
      </p:sp>
      <p:pic>
        <p:nvPicPr>
          <p:cNvPr id="327" name="Google Shape;327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72225" y="1795462"/>
            <a:ext cx="5210175" cy="354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3375" y="10429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33375" y="225266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33375" y="314801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33375" y="435768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33375" y="5253037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4"/>
          <p:cNvSpPr txBox="1"/>
          <p:nvPr/>
        </p:nvSpPr>
        <p:spPr>
          <a:xfrm>
            <a:off x="571500" y="-23812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 Module Functionality</a:t>
            </a:r>
            <a:endParaRPr/>
          </a:p>
        </p:txBody>
      </p:sp>
      <p:sp>
        <p:nvSpPr>
          <p:cNvPr id="334" name="Google Shape;334;p24"/>
          <p:cNvSpPr/>
          <p:nvPr/>
        </p:nvSpPr>
        <p:spPr>
          <a:xfrm>
            <a:off x="571500" y="700087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340;p25" descr="image.png">
            <a:extLst>
              <a:ext uri="{FF2B5EF4-FFF2-40B4-BE49-F238E27FC236}">
                <a16:creationId xmlns:a16="http://schemas.microsoft.com/office/drawing/2014/main" id="{DF7A94F4-FA32-2FA8-EE68-A4A892A5650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3764790"/>
            <a:ext cx="5286375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340;p25" descr="image.png">
            <a:extLst>
              <a:ext uri="{FF2B5EF4-FFF2-40B4-BE49-F238E27FC236}">
                <a16:creationId xmlns:a16="http://schemas.microsoft.com/office/drawing/2014/main" id="{2C6E6F56-1C3E-149F-C2E8-13DF34C269D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499" y="3781425"/>
            <a:ext cx="5286375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909637"/>
            <a:ext cx="5286375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909637"/>
            <a:ext cx="5286375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6305550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5"/>
          <p:cNvSpPr txBox="1"/>
          <p:nvPr/>
        </p:nvSpPr>
        <p:spPr>
          <a:xfrm>
            <a:off x="771525" y="6181725"/>
            <a:ext cx="110394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admin module provides absolute control. The owner can view revenue analytics, manage the product catalog, oversee order fulfillment, and control user access.</a:t>
            </a:r>
            <a:endParaRPr/>
          </a:p>
        </p:txBody>
      </p:sp>
      <p:sp>
        <p:nvSpPr>
          <p:cNvPr id="345" name="Google Shape;345;p25"/>
          <p:cNvSpPr txBox="1"/>
          <p:nvPr/>
        </p:nvSpPr>
        <p:spPr>
          <a:xfrm>
            <a:off x="962025" y="1300162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00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Dashboard Analytics</a:t>
            </a:r>
            <a:endParaRPr/>
          </a:p>
        </p:txBody>
      </p:sp>
      <p:sp>
        <p:nvSpPr>
          <p:cNvPr id="346" name="Google Shape;346;p25"/>
          <p:cNvSpPr txBox="1"/>
          <p:nvPr/>
        </p:nvSpPr>
        <p:spPr>
          <a:xfrm>
            <a:off x="962025" y="1890712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Centralized view providing comprehensive business intelligence including total revenue, active orders, and customer acquisition metrics.</a:t>
            </a:r>
            <a:endParaRPr/>
          </a:p>
        </p:txBody>
      </p:sp>
      <p:sp>
        <p:nvSpPr>
          <p:cNvPr id="347" name="Google Shape;347;p25"/>
          <p:cNvSpPr txBox="1"/>
          <p:nvPr/>
        </p:nvSpPr>
        <p:spPr>
          <a:xfrm>
            <a:off x="6724650" y="1300162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00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Catalog Management</a:t>
            </a:r>
            <a:endParaRPr/>
          </a:p>
        </p:txBody>
      </p:sp>
      <p:sp>
        <p:nvSpPr>
          <p:cNvPr id="348" name="Google Shape;348;p25"/>
          <p:cNvSpPr txBox="1"/>
          <p:nvPr/>
        </p:nvSpPr>
        <p:spPr>
          <a:xfrm>
            <a:off x="6724650" y="1890712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Full CRUD authority. Admins can add new watch models, upload high-res images, set dynamic pricing, and monitor real-time stock levels.</a:t>
            </a:r>
            <a:endParaRPr/>
          </a:p>
        </p:txBody>
      </p:sp>
      <p:sp>
        <p:nvSpPr>
          <p:cNvPr id="349" name="Google Shape;349;p25"/>
          <p:cNvSpPr txBox="1"/>
          <p:nvPr/>
        </p:nvSpPr>
        <p:spPr>
          <a:xfrm>
            <a:off x="962025" y="4195762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 Fulfillment</a:t>
            </a:r>
            <a:endParaRPr/>
          </a:p>
        </p:txBody>
      </p:sp>
      <p:sp>
        <p:nvSpPr>
          <p:cNvPr id="350" name="Google Shape;350;p25"/>
          <p:cNvSpPr txBox="1"/>
          <p:nvPr/>
        </p:nvSpPr>
        <p:spPr>
          <a:xfrm>
            <a:off x="962025" y="4786312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Complete oversight of the order lifecycle. Ability to verify payments, update shipping tracking numbers, and manage refund requests.</a:t>
            </a:r>
            <a:endParaRPr/>
          </a:p>
        </p:txBody>
      </p:sp>
      <p:sp>
        <p:nvSpPr>
          <p:cNvPr id="351" name="Google Shape;351;p25"/>
          <p:cNvSpPr txBox="1"/>
          <p:nvPr/>
        </p:nvSpPr>
        <p:spPr>
          <a:xfrm>
            <a:off x="6724650" y="4195762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&amp; Access Control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6724650" y="4786312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Manage all registered customer accounts and create restricted role-based access for delivery staff or support employees.</a:t>
            </a:r>
            <a:endParaRPr/>
          </a:p>
        </p:txBody>
      </p:sp>
      <p:pic>
        <p:nvPicPr>
          <p:cNvPr id="353" name="Google Shape;353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1469854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50" y="1455788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2025" y="4365456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2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24650" y="4351387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5"/>
          <p:cNvSpPr txBox="1"/>
          <p:nvPr/>
        </p:nvSpPr>
        <p:spPr>
          <a:xfrm>
            <a:off x="571500" y="-128587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Administrator Module Functionality</a:t>
            </a:r>
            <a:endParaRPr/>
          </a:p>
        </p:txBody>
      </p:sp>
      <p:sp>
        <p:nvSpPr>
          <p:cNvPr id="358" name="Google Shape;358;p25"/>
          <p:cNvSpPr/>
          <p:nvPr/>
        </p:nvSpPr>
        <p:spPr>
          <a:xfrm>
            <a:off x="571500" y="595312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6230600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26"/>
          <p:cNvSpPr txBox="1"/>
          <p:nvPr/>
        </p:nvSpPr>
        <p:spPr>
          <a:xfrm>
            <a:off x="771525" y="6181725"/>
            <a:ext cx="110394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We used MongoDB to store data in flexible JSON collections. The main tables include Users, Products, Orders, Carts, and Coupons, connected via Object IDs.</a:t>
            </a:r>
            <a:endParaRPr/>
          </a:p>
        </p:txBody>
      </p:sp>
      <p:graphicFrame>
        <p:nvGraphicFramePr>
          <p:cNvPr id="365" name="Google Shape;365;p26"/>
          <p:cNvGraphicFramePr/>
          <p:nvPr/>
        </p:nvGraphicFramePr>
        <p:xfrm>
          <a:off x="571500" y="1895475"/>
          <a:ext cx="11049000" cy="3343225"/>
        </p:xfrm>
        <a:graphic>
          <a:graphicData uri="http://schemas.openxmlformats.org/drawingml/2006/table">
            <a:tbl>
              <a:tblPr firstRow="1" bandRow="1">
                <a:noFill/>
                <a:tableStyleId>{BB98CFCF-8F7D-4DB4-A51A-9E3AD1FAB171}</a:tableStyleId>
              </a:tblPr>
              <a:tblGrid>
                <a:gridCol w="1578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0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Collection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Fields (JSON Documents)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Purpose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_id, name, email, password (hashed), role, isActive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Manages authentication and role-based access.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_id, name, brand, price, stock, images, specifications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Stores the dynamic luxury watch catalog data.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Order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_id, user_ref, items, shippingAddress, totalPrice, status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Tracks customer purchases and delivery status.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_id, user_ref, products Array(id, quantity)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Maintains persistent, reload-free shopping carts.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Coupons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_id, code, discountValue, expiryDate, isActive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Validates and applies promotional discounts.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66" name="Google Shape;366;p26"/>
          <p:cNvSpPr/>
          <p:nvPr/>
        </p:nvSpPr>
        <p:spPr>
          <a:xfrm>
            <a:off x="571500" y="2509837"/>
            <a:ext cx="15784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6"/>
          <p:cNvSpPr/>
          <p:nvPr/>
        </p:nvSpPr>
        <p:spPr>
          <a:xfrm>
            <a:off x="2149971" y="2509837"/>
            <a:ext cx="50202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6"/>
          <p:cNvSpPr/>
          <p:nvPr/>
        </p:nvSpPr>
        <p:spPr>
          <a:xfrm>
            <a:off x="7170241" y="2509837"/>
            <a:ext cx="44502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6"/>
          <p:cNvSpPr/>
          <p:nvPr/>
        </p:nvSpPr>
        <p:spPr>
          <a:xfrm>
            <a:off x="571500" y="3052762"/>
            <a:ext cx="15784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6"/>
          <p:cNvSpPr/>
          <p:nvPr/>
        </p:nvSpPr>
        <p:spPr>
          <a:xfrm>
            <a:off x="2149971" y="3052762"/>
            <a:ext cx="50202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6"/>
          <p:cNvSpPr/>
          <p:nvPr/>
        </p:nvSpPr>
        <p:spPr>
          <a:xfrm>
            <a:off x="7170241" y="3052762"/>
            <a:ext cx="44502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6"/>
          <p:cNvSpPr/>
          <p:nvPr/>
        </p:nvSpPr>
        <p:spPr>
          <a:xfrm>
            <a:off x="571500" y="3595687"/>
            <a:ext cx="15784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6"/>
          <p:cNvSpPr/>
          <p:nvPr/>
        </p:nvSpPr>
        <p:spPr>
          <a:xfrm>
            <a:off x="2149971" y="3595687"/>
            <a:ext cx="50202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6"/>
          <p:cNvSpPr/>
          <p:nvPr/>
        </p:nvSpPr>
        <p:spPr>
          <a:xfrm>
            <a:off x="7170241" y="3595687"/>
            <a:ext cx="44502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6"/>
          <p:cNvSpPr/>
          <p:nvPr/>
        </p:nvSpPr>
        <p:spPr>
          <a:xfrm>
            <a:off x="571500" y="4138612"/>
            <a:ext cx="15784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6"/>
          <p:cNvSpPr/>
          <p:nvPr/>
        </p:nvSpPr>
        <p:spPr>
          <a:xfrm>
            <a:off x="2149971" y="4138612"/>
            <a:ext cx="50202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6"/>
          <p:cNvSpPr/>
          <p:nvPr/>
        </p:nvSpPr>
        <p:spPr>
          <a:xfrm>
            <a:off x="7170241" y="4138612"/>
            <a:ext cx="44502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6"/>
          <p:cNvSpPr/>
          <p:nvPr/>
        </p:nvSpPr>
        <p:spPr>
          <a:xfrm>
            <a:off x="571500" y="4681537"/>
            <a:ext cx="15784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6"/>
          <p:cNvSpPr/>
          <p:nvPr/>
        </p:nvSpPr>
        <p:spPr>
          <a:xfrm>
            <a:off x="2149971" y="4681537"/>
            <a:ext cx="50202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6"/>
          <p:cNvSpPr/>
          <p:nvPr/>
        </p:nvSpPr>
        <p:spPr>
          <a:xfrm>
            <a:off x="7170241" y="4681537"/>
            <a:ext cx="44502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6"/>
          <p:cNvSpPr/>
          <p:nvPr/>
        </p:nvSpPr>
        <p:spPr>
          <a:xfrm>
            <a:off x="571500" y="5224462"/>
            <a:ext cx="15784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6"/>
          <p:cNvSpPr/>
          <p:nvPr/>
        </p:nvSpPr>
        <p:spPr>
          <a:xfrm>
            <a:off x="2149971" y="5224462"/>
            <a:ext cx="50202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6"/>
          <p:cNvSpPr/>
          <p:nvPr/>
        </p:nvSpPr>
        <p:spPr>
          <a:xfrm>
            <a:off x="7170241" y="5224462"/>
            <a:ext cx="44502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6"/>
          <p:cNvSpPr txBox="1"/>
          <p:nvPr/>
        </p:nvSpPr>
        <p:spPr>
          <a:xfrm>
            <a:off x="571500" y="476250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Design (MongoDB Collections)</a:t>
            </a:r>
            <a:endParaRPr/>
          </a:p>
        </p:txBody>
      </p:sp>
      <p:sp>
        <p:nvSpPr>
          <p:cNvPr id="385" name="Google Shape;385;p26"/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757362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305550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27"/>
          <p:cNvSpPr txBox="1"/>
          <p:nvPr/>
        </p:nvSpPr>
        <p:spPr>
          <a:xfrm>
            <a:off x="771525" y="6181725"/>
            <a:ext cx="110394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During implementation, we built reusable Angular components and styled them with Tailwind CSS to ensure a responsive, dark-mode luxury aesthetic across all devices.</a:t>
            </a:r>
            <a:endParaRPr/>
          </a:p>
        </p:txBody>
      </p:sp>
      <p:sp>
        <p:nvSpPr>
          <p:cNvPr id="394" name="Google Shape;394;p27"/>
          <p:cNvSpPr txBox="1"/>
          <p:nvPr/>
        </p:nvSpPr>
        <p:spPr>
          <a:xfrm>
            <a:off x="6572250" y="1147762"/>
            <a:ext cx="4572000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Component-Based: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Developed reusable Angular components for product cards, navigation, and forms.</a:t>
            </a:r>
            <a:endParaRPr/>
          </a:p>
        </p:txBody>
      </p:sp>
      <p:sp>
        <p:nvSpPr>
          <p:cNvPr id="395" name="Google Shape;395;p27"/>
          <p:cNvSpPr txBox="1"/>
          <p:nvPr/>
        </p:nvSpPr>
        <p:spPr>
          <a:xfrm>
            <a:off x="6572250" y="2357437"/>
            <a:ext cx="4572000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Premium Aesthetic: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Utilized Tailwind CSS to establish a "dark mode" luxury theme accented with gold and crisp white.</a:t>
            </a:r>
            <a:endParaRPr/>
          </a:p>
        </p:txBody>
      </p:sp>
      <p:sp>
        <p:nvSpPr>
          <p:cNvPr id="396" name="Google Shape;396;p27"/>
          <p:cNvSpPr txBox="1"/>
          <p:nvPr/>
        </p:nvSpPr>
        <p:spPr>
          <a:xfrm>
            <a:off x="6572250" y="3567112"/>
            <a:ext cx="4572000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Responsive Layout: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Ensured the digital storefront adapts perfectly across desktops, tablets, and mobile devices.</a:t>
            </a:r>
            <a:endParaRPr dirty="0"/>
          </a:p>
        </p:txBody>
      </p:sp>
      <p:sp>
        <p:nvSpPr>
          <p:cNvPr id="397" name="Google Shape;397;p27"/>
          <p:cNvSpPr txBox="1"/>
          <p:nvPr/>
        </p:nvSpPr>
        <p:spPr>
          <a:xfrm>
            <a:off x="6572250" y="4776787"/>
            <a:ext cx="4572000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Secure API Routing: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Configured Express.js endpoints to securely handle data requests from the frontend.</a:t>
            </a:r>
            <a:endParaRPr/>
          </a:p>
        </p:txBody>
      </p:sp>
      <p:pic>
        <p:nvPicPr>
          <p:cNvPr id="398" name="Google Shape;398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6000" y="117633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96000" y="23860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6000" y="3595687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2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96000" y="4805362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7"/>
          <p:cNvSpPr txBox="1"/>
          <p:nvPr/>
        </p:nvSpPr>
        <p:spPr>
          <a:xfrm>
            <a:off x="571500" y="109537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&amp; UI Details</a:t>
            </a:r>
            <a:endParaRPr/>
          </a:p>
        </p:txBody>
      </p:sp>
      <p:sp>
        <p:nvSpPr>
          <p:cNvPr id="403" name="Google Shape;403;p27"/>
          <p:cNvSpPr/>
          <p:nvPr/>
        </p:nvSpPr>
        <p:spPr>
          <a:xfrm>
            <a:off x="571500" y="833437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8527F8-0ED5-A403-976D-C9F71125036C}"/>
              </a:ext>
            </a:extLst>
          </p:cNvPr>
          <p:cNvPicPr/>
          <p:nvPr/>
        </p:nvPicPr>
        <p:blipFill>
          <a:blip r:embed="rId9"/>
          <a:stretch>
            <a:fillRect/>
          </a:stretch>
        </p:blipFill>
        <p:spPr>
          <a:xfrm>
            <a:off x="328240" y="1795462"/>
            <a:ext cx="5636461" cy="3619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Google Shape;408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757362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6305550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28"/>
          <p:cNvSpPr txBox="1"/>
          <p:nvPr/>
        </p:nvSpPr>
        <p:spPr>
          <a:xfrm>
            <a:off x="771525" y="6181725"/>
            <a:ext cx="110394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Our rigorous testing phase confirmed that the website functions perfectly. Database operations are accurate, the UI is responsive, and no critical errors were found.</a:t>
            </a:r>
            <a:endParaRPr/>
          </a:p>
        </p:txBody>
      </p:sp>
      <p:sp>
        <p:nvSpPr>
          <p:cNvPr id="411" name="Google Shape;411;p28"/>
          <p:cNvSpPr txBox="1"/>
          <p:nvPr/>
        </p:nvSpPr>
        <p:spPr>
          <a:xfrm>
            <a:off x="571500" y="1666875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Quality Assurance Verified:</a:t>
            </a:r>
            <a:endParaRPr/>
          </a:p>
        </p:txBody>
      </p:sp>
      <p:sp>
        <p:nvSpPr>
          <p:cNvPr id="412" name="Google Shape;412;p28"/>
          <p:cNvSpPr txBox="1"/>
          <p:nvPr/>
        </p:nvSpPr>
        <p:spPr>
          <a:xfrm>
            <a:off x="742950" y="220980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/>
          </a:p>
        </p:txBody>
      </p:sp>
      <p:sp>
        <p:nvSpPr>
          <p:cNvPr id="413" name="Google Shape;413;p28"/>
          <p:cNvSpPr txBox="1"/>
          <p:nvPr/>
        </p:nvSpPr>
        <p:spPr>
          <a:xfrm>
            <a:off x="809625" y="2209800"/>
            <a:ext cx="50482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Functional Testing: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Verified that cart updates, secure checkout, and invoice generation operate flawlessly without errors.</a:t>
            </a:r>
            <a:endParaRPr/>
          </a:p>
        </p:txBody>
      </p:sp>
      <p:sp>
        <p:nvSpPr>
          <p:cNvPr id="414" name="Google Shape;414;p28"/>
          <p:cNvSpPr txBox="1"/>
          <p:nvPr/>
        </p:nvSpPr>
        <p:spPr>
          <a:xfrm>
            <a:off x="742950" y="323850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/>
          </a:p>
        </p:txBody>
      </p:sp>
      <p:sp>
        <p:nvSpPr>
          <p:cNvPr id="415" name="Google Shape;415;p28"/>
          <p:cNvSpPr txBox="1"/>
          <p:nvPr/>
        </p:nvSpPr>
        <p:spPr>
          <a:xfrm>
            <a:off x="809625" y="3238500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Integration Testing: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Confirmed smooth data flow between the Angular frontend, Node API, and MongoDB database.</a:t>
            </a:r>
            <a:endParaRPr/>
          </a:p>
        </p:txBody>
      </p:sp>
      <p:sp>
        <p:nvSpPr>
          <p:cNvPr id="416" name="Google Shape;416;p28"/>
          <p:cNvSpPr txBox="1"/>
          <p:nvPr/>
        </p:nvSpPr>
        <p:spPr>
          <a:xfrm>
            <a:off x="742950" y="398145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/>
          </a:p>
        </p:txBody>
      </p:sp>
      <p:sp>
        <p:nvSpPr>
          <p:cNvPr id="417" name="Google Shape;417;p28"/>
          <p:cNvSpPr txBox="1"/>
          <p:nvPr/>
        </p:nvSpPr>
        <p:spPr>
          <a:xfrm>
            <a:off x="809625" y="3981450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Environment Testing: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Successfully tested across major browsers (Chrome, Safari, Edge) and OS platforms.</a:t>
            </a:r>
            <a:endParaRPr/>
          </a:p>
        </p:txBody>
      </p:sp>
      <p:sp>
        <p:nvSpPr>
          <p:cNvPr id="418" name="Google Shape;418;p28"/>
          <p:cNvSpPr txBox="1"/>
          <p:nvPr/>
        </p:nvSpPr>
        <p:spPr>
          <a:xfrm>
            <a:off x="742950" y="472440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▪</a:t>
            </a:r>
            <a:endParaRPr/>
          </a:p>
        </p:txBody>
      </p:sp>
      <p:sp>
        <p:nvSpPr>
          <p:cNvPr id="419" name="Google Shape;419;p28"/>
          <p:cNvSpPr txBox="1"/>
          <p:nvPr/>
        </p:nvSpPr>
        <p:spPr>
          <a:xfrm>
            <a:off x="809625" y="4724400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Performance Check: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Optimized DB queries ensure fast loading of high-resolution product catalogs.</a:t>
            </a:r>
            <a:endParaRPr/>
          </a:p>
        </p:txBody>
      </p:sp>
      <p:sp>
        <p:nvSpPr>
          <p:cNvPr id="420" name="Google Shape;420;p28"/>
          <p:cNvSpPr txBox="1"/>
          <p:nvPr/>
        </p:nvSpPr>
        <p:spPr>
          <a:xfrm>
            <a:off x="571500" y="476250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&amp; Testing Outcomes</a:t>
            </a:r>
            <a:endParaRPr/>
          </a:p>
        </p:txBody>
      </p:sp>
      <p:sp>
        <p:nvSpPr>
          <p:cNvPr id="421" name="Google Shape;421;p28"/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3" name="Google Shape;393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1262" y="1757362"/>
            <a:ext cx="5329238" cy="3538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6" name="Google Shape;426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909637"/>
            <a:ext cx="5286375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909637"/>
            <a:ext cx="5286375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805237"/>
            <a:ext cx="5286375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3805237"/>
            <a:ext cx="5286375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2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1000" y="6305550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29"/>
          <p:cNvSpPr txBox="1"/>
          <p:nvPr/>
        </p:nvSpPr>
        <p:spPr>
          <a:xfrm>
            <a:off x="771525" y="6181725"/>
            <a:ext cx="110394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key advantages of WATCHERA include high scalability, a unified JavaScript development workflow, cost-effective security measures, and a premium user experience.</a:t>
            </a:r>
            <a:endParaRPr/>
          </a:p>
        </p:txBody>
      </p:sp>
      <p:sp>
        <p:nvSpPr>
          <p:cNvPr id="432" name="Google Shape;432;p29"/>
          <p:cNvSpPr txBox="1"/>
          <p:nvPr/>
        </p:nvSpPr>
        <p:spPr>
          <a:xfrm>
            <a:off x="962025" y="1300162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00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Scalability &amp; Speed</a:t>
            </a:r>
            <a:endParaRPr/>
          </a:p>
        </p:txBody>
      </p:sp>
      <p:sp>
        <p:nvSpPr>
          <p:cNvPr id="433" name="Google Shape;433;p29"/>
          <p:cNvSpPr txBox="1"/>
          <p:nvPr/>
        </p:nvSpPr>
        <p:spPr>
          <a:xfrm>
            <a:off x="962025" y="1890712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The combination of MongoDB's distributed database and Angular's SPA rendering easily handles high traffic and delivers a fluid, instant experience.</a:t>
            </a:r>
            <a:endParaRPr/>
          </a:p>
        </p:txBody>
      </p:sp>
      <p:sp>
        <p:nvSpPr>
          <p:cNvPr id="434" name="Google Shape;434;p29"/>
          <p:cNvSpPr txBox="1"/>
          <p:nvPr/>
        </p:nvSpPr>
        <p:spPr>
          <a:xfrm>
            <a:off x="6724650" y="1300162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Unified Workflow</a:t>
            </a:r>
            <a:endParaRPr/>
          </a:p>
        </p:txBody>
      </p:sp>
      <p:sp>
        <p:nvSpPr>
          <p:cNvPr id="435" name="Google Shape;435;p29"/>
          <p:cNvSpPr txBox="1"/>
          <p:nvPr/>
        </p:nvSpPr>
        <p:spPr>
          <a:xfrm>
            <a:off x="6724650" y="1890712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Utilizing a full JavaScript/TypeScript (MEAN) stack creates a highly efficient, seamless pipeline between backend APIs and frontend UI components.</a:t>
            </a:r>
            <a:endParaRPr/>
          </a:p>
        </p:txBody>
      </p:sp>
      <p:sp>
        <p:nvSpPr>
          <p:cNvPr id="436" name="Google Shape;436;p29"/>
          <p:cNvSpPr txBox="1"/>
          <p:nvPr/>
        </p:nvSpPr>
        <p:spPr>
          <a:xfrm>
            <a:off x="962025" y="4195762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Cost-Effective Security</a:t>
            </a:r>
            <a:endParaRPr/>
          </a:p>
        </p:txBody>
      </p:sp>
      <p:sp>
        <p:nvSpPr>
          <p:cNvPr id="437" name="Google Shape;437;p29"/>
          <p:cNvSpPr txBox="1"/>
          <p:nvPr/>
        </p:nvSpPr>
        <p:spPr>
          <a:xfrm>
            <a:off x="962025" y="4786312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Leveraging open-source technologies provides enterprise-level reliability and data security without prohibitive corporate licensing costs.</a:t>
            </a:r>
            <a:endParaRPr/>
          </a:p>
        </p:txBody>
      </p:sp>
      <p:sp>
        <p:nvSpPr>
          <p:cNvPr id="438" name="Google Shape;438;p29"/>
          <p:cNvSpPr txBox="1"/>
          <p:nvPr/>
        </p:nvSpPr>
        <p:spPr>
          <a:xfrm>
            <a:off x="6724650" y="4195762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19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Premium User Experience</a:t>
            </a:r>
            <a:endParaRPr/>
          </a:p>
        </p:txBody>
      </p:sp>
      <p:sp>
        <p:nvSpPr>
          <p:cNvPr id="439" name="Google Shape;439;p29"/>
          <p:cNvSpPr txBox="1"/>
          <p:nvPr/>
        </p:nvSpPr>
        <p:spPr>
          <a:xfrm>
            <a:off x="6724650" y="4786312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The system breaks away from generic templates, offering a highly customized, mobile-first design tailored for luxury clientele.</a:t>
            </a:r>
            <a:endParaRPr/>
          </a:p>
        </p:txBody>
      </p:sp>
      <p:pic>
        <p:nvPicPr>
          <p:cNvPr id="440" name="Google Shape;440;p2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2025" y="1357312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2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24650" y="1357312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2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724650" y="425291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29"/>
          <p:cNvSpPr txBox="1"/>
          <p:nvPr/>
        </p:nvSpPr>
        <p:spPr>
          <a:xfrm>
            <a:off x="571500" y="-128587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 of WATCHERA</a:t>
            </a:r>
            <a:endParaRPr/>
          </a:p>
        </p:txBody>
      </p:sp>
      <p:sp>
        <p:nvSpPr>
          <p:cNvPr id="444" name="Google Shape;444;p29"/>
          <p:cNvSpPr/>
          <p:nvPr/>
        </p:nvSpPr>
        <p:spPr>
          <a:xfrm>
            <a:off x="571500" y="595312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6305550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30"/>
          <p:cNvSpPr txBox="1"/>
          <p:nvPr/>
        </p:nvSpPr>
        <p:spPr>
          <a:xfrm>
            <a:off x="771525" y="6181725"/>
            <a:ext cx="110394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Current limitations include a strict dependency on stable internet and third-party payment gateways, as well as necessary restrictions on image upload sizes.</a:t>
            </a:r>
            <a:endParaRPr/>
          </a:p>
        </p:txBody>
      </p:sp>
      <p:sp>
        <p:nvSpPr>
          <p:cNvPr id="451" name="Google Shape;451;p30"/>
          <p:cNvSpPr txBox="1"/>
          <p:nvPr/>
        </p:nvSpPr>
        <p:spPr>
          <a:xfrm>
            <a:off x="1047750" y="1776412"/>
            <a:ext cx="904875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Internet Dependency: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The platform requires a stable, continuous internet connection to load high-resolution images and process real-time API requests.</a:t>
            </a:r>
            <a:endParaRPr/>
          </a:p>
        </p:txBody>
      </p:sp>
      <p:sp>
        <p:nvSpPr>
          <p:cNvPr id="452" name="Google Shape;452;p30"/>
          <p:cNvSpPr txBox="1"/>
          <p:nvPr/>
        </p:nvSpPr>
        <p:spPr>
          <a:xfrm>
            <a:off x="1047750" y="2671762"/>
            <a:ext cx="904875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Payment Gateway Reliance: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Transaction completion is dependent on the uptime and latency of third-party payment providers (like Razorpay).</a:t>
            </a:r>
            <a:endParaRPr/>
          </a:p>
        </p:txBody>
      </p:sp>
      <p:sp>
        <p:nvSpPr>
          <p:cNvPr id="453" name="Google Shape;453;p30"/>
          <p:cNvSpPr txBox="1"/>
          <p:nvPr/>
        </p:nvSpPr>
        <p:spPr>
          <a:xfrm>
            <a:off x="1047750" y="3567112"/>
            <a:ext cx="904875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Image Size Constraints: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Admin image uploads are restricted to 5MB to preserve optimal page load speeds.</a:t>
            </a:r>
            <a:endParaRPr/>
          </a:p>
        </p:txBody>
      </p:sp>
      <p:sp>
        <p:nvSpPr>
          <p:cNvPr id="454" name="Google Shape;454;p30"/>
          <p:cNvSpPr txBox="1"/>
          <p:nvPr/>
        </p:nvSpPr>
        <p:spPr>
          <a:xfrm>
            <a:off x="1047750" y="4462462"/>
            <a:ext cx="904875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Session Expiration: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For security compliance, user authentication sessions automatically expire after 24 hours of inactivity.</a:t>
            </a:r>
            <a:endParaRPr/>
          </a:p>
        </p:txBody>
      </p:sp>
      <p:pic>
        <p:nvPicPr>
          <p:cNvPr id="455" name="Google Shape;455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0498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7003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5956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3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491037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30"/>
          <p:cNvSpPr txBox="1"/>
          <p:nvPr/>
        </p:nvSpPr>
        <p:spPr>
          <a:xfrm>
            <a:off x="571500" y="476250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Limitations</a:t>
            </a:r>
            <a:endParaRPr/>
          </a:p>
        </p:txBody>
      </p:sp>
      <p:sp>
        <p:nvSpPr>
          <p:cNvPr id="460" name="Google Shape;460;p30"/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1"/>
          <p:cNvSpPr txBox="1"/>
          <p:nvPr/>
        </p:nvSpPr>
        <p:spPr>
          <a:xfrm>
            <a:off x="381000" y="135400"/>
            <a:ext cx="5476876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 of Enhancements</a:t>
            </a:r>
            <a:endParaRPr sz="1200" dirty="0"/>
          </a:p>
        </p:txBody>
      </p:sp>
      <p:pic>
        <p:nvPicPr>
          <p:cNvPr id="466" name="Google Shape;466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31"/>
          <p:cNvSpPr txBox="1"/>
          <p:nvPr/>
        </p:nvSpPr>
        <p:spPr>
          <a:xfrm>
            <a:off x="1047750" y="1278101"/>
            <a:ext cx="4429125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3D Visual Try-On: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Integrating AR features allowing customers to view how a watch looks on their wrist using their device camera.</a:t>
            </a:r>
            <a:endParaRPr dirty="0"/>
          </a:p>
        </p:txBody>
      </p:sp>
      <p:sp>
        <p:nvSpPr>
          <p:cNvPr id="470" name="Google Shape;470;p31"/>
          <p:cNvSpPr txBox="1"/>
          <p:nvPr/>
        </p:nvSpPr>
        <p:spPr>
          <a:xfrm>
            <a:off x="1047750" y="2656590"/>
            <a:ext cx="4429125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Native Mobile Application: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Converting the web app into a dedicated Android/iOS app with push notification capabilities.</a:t>
            </a:r>
            <a:endParaRPr dirty="0"/>
          </a:p>
        </p:txBody>
      </p:sp>
      <p:sp>
        <p:nvSpPr>
          <p:cNvPr id="471" name="Google Shape;471;p31"/>
          <p:cNvSpPr txBox="1"/>
          <p:nvPr/>
        </p:nvSpPr>
        <p:spPr>
          <a:xfrm>
            <a:off x="1047750" y="4077279"/>
            <a:ext cx="4429125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AI Recommendations: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Implementing AI to provide smart, algorithm-driven watch suggestions based on user browsing history.</a:t>
            </a:r>
            <a:endParaRPr dirty="0"/>
          </a:p>
        </p:txBody>
      </p:sp>
      <p:sp>
        <p:nvSpPr>
          <p:cNvPr id="472" name="Google Shape;472;p31"/>
          <p:cNvSpPr txBox="1"/>
          <p:nvPr/>
        </p:nvSpPr>
        <p:spPr>
          <a:xfrm>
            <a:off x="1047750" y="5568312"/>
            <a:ext cx="4429125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Global Localization: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Adding real-time currency conversion and multi-language support for international collectors.</a:t>
            </a:r>
            <a:endParaRPr lang="en-US" dirty="0"/>
          </a:p>
        </p:txBody>
      </p:sp>
      <p:pic>
        <p:nvPicPr>
          <p:cNvPr id="473" name="Google Shape;473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91085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783640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19026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3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5667224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" name="Google Shape;481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6305550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32"/>
          <p:cNvSpPr txBox="1"/>
          <p:nvPr/>
        </p:nvSpPr>
        <p:spPr>
          <a:xfrm>
            <a:off x="1809750" y="4856440"/>
            <a:ext cx="85725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By successfully implementing the MEAN stack, we have established a solid, well-structured digital foundation. It reliably handles core e-commerce workflows and is fully capable of future scaling.</a:t>
            </a:r>
            <a:endParaRPr/>
          </a:p>
        </p:txBody>
      </p:sp>
      <p:sp>
        <p:nvSpPr>
          <p:cNvPr id="483" name="Google Shape;483;p32"/>
          <p:cNvSpPr txBox="1"/>
          <p:nvPr/>
        </p:nvSpPr>
        <p:spPr>
          <a:xfrm>
            <a:off x="771525" y="6181725"/>
            <a:ext cx="110394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To conclude, WATCHERA effectively meets its goal of delivering a robust, secure, and visually stunning e-commerce solution using modern web technologies.</a:t>
            </a:r>
            <a:endParaRPr/>
          </a:p>
        </p:txBody>
      </p:sp>
      <p:sp>
        <p:nvSpPr>
          <p:cNvPr id="484" name="Google Shape;484;p32"/>
          <p:cNvSpPr txBox="1"/>
          <p:nvPr/>
        </p:nvSpPr>
        <p:spPr>
          <a:xfrm>
            <a:off x="1676400" y="1181397"/>
            <a:ext cx="8839200" cy="3199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"The development of the WATCHERA platform successfully demonstrates a highly functional, full-stack e-commerce solution that seamlessly bridges premium luxury retail with modern web convenience."</a:t>
            </a:r>
            <a:endParaRPr/>
          </a:p>
        </p:txBody>
      </p:sp>
      <p:sp>
        <p:nvSpPr>
          <p:cNvPr id="485" name="Google Shape;485;p32"/>
          <p:cNvSpPr txBox="1"/>
          <p:nvPr/>
        </p:nvSpPr>
        <p:spPr>
          <a:xfrm>
            <a:off x="295275" y="171747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0" name="Google Shape;490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5068" y="6178938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33"/>
          <p:cNvSpPr txBox="1"/>
          <p:nvPr/>
        </p:nvSpPr>
        <p:spPr>
          <a:xfrm>
            <a:off x="771525" y="6181725"/>
            <a:ext cx="110394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Here are the primary official documentations and resources we consulted during the development of this project to ensure we followed industry best practices.</a:t>
            </a:r>
            <a:endParaRPr/>
          </a:p>
        </p:txBody>
      </p:sp>
      <p:sp>
        <p:nvSpPr>
          <p:cNvPr id="492" name="Google Shape;492;p33"/>
          <p:cNvSpPr txBox="1"/>
          <p:nvPr/>
        </p:nvSpPr>
        <p:spPr>
          <a:xfrm>
            <a:off x="1047750" y="1328737"/>
            <a:ext cx="904875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Angular Documentation: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Official guides for component routing and SPA development. (https://angular.io/docs)</a:t>
            </a:r>
            <a:endParaRPr/>
          </a:p>
        </p:txBody>
      </p:sp>
      <p:sp>
        <p:nvSpPr>
          <p:cNvPr id="493" name="Google Shape;493;p33"/>
          <p:cNvSpPr txBox="1"/>
          <p:nvPr/>
        </p:nvSpPr>
        <p:spPr>
          <a:xfrm>
            <a:off x="1047750" y="2224087"/>
            <a:ext cx="904875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Node.js &amp; Express API: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Documentation for building asynchronous server backends. (https://nodejs.org/en/docs/)</a:t>
            </a:r>
            <a:endParaRPr/>
          </a:p>
        </p:txBody>
      </p:sp>
      <p:sp>
        <p:nvSpPr>
          <p:cNvPr id="494" name="Google Shape;494;p33"/>
          <p:cNvSpPr txBox="1"/>
          <p:nvPr/>
        </p:nvSpPr>
        <p:spPr>
          <a:xfrm>
            <a:off x="1047750" y="3119437"/>
            <a:ext cx="904875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MongoDB Manual: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Reference for NoSQL database schema design and aggregation. (https://www.mongodb.com/docs/manual/)</a:t>
            </a:r>
            <a:endParaRPr/>
          </a:p>
        </p:txBody>
      </p:sp>
      <p:sp>
        <p:nvSpPr>
          <p:cNvPr id="495" name="Google Shape;495;p33"/>
          <p:cNvSpPr txBox="1"/>
          <p:nvPr/>
        </p:nvSpPr>
        <p:spPr>
          <a:xfrm>
            <a:off x="1047750" y="4014787"/>
            <a:ext cx="904875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Tailwind CSS Docs: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Utility-first styling references for responsive design. (https://tailwindcss.com/docs)</a:t>
            </a:r>
            <a:endParaRPr/>
          </a:p>
        </p:txBody>
      </p:sp>
      <p:sp>
        <p:nvSpPr>
          <p:cNvPr id="496" name="Google Shape;496;p33"/>
          <p:cNvSpPr txBox="1"/>
          <p:nvPr/>
        </p:nvSpPr>
        <p:spPr>
          <a:xfrm>
            <a:off x="1047750" y="4910137"/>
            <a:ext cx="904875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1E3A8A"/>
                </a:solidFill>
                <a:latin typeface="Calibri"/>
                <a:ea typeface="Calibri"/>
                <a:cs typeface="Calibri"/>
                <a:sym typeface="Calibri"/>
              </a:rPr>
              <a:t>MDN Web Docs: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General reference for modern HTML, CSS, and JavaScript standards. (https://developer.mozilla.org/)</a:t>
            </a:r>
            <a:endParaRPr dirty="0"/>
          </a:p>
        </p:txBody>
      </p:sp>
      <p:pic>
        <p:nvPicPr>
          <p:cNvPr id="497" name="Google Shape;497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5731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5266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4801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04336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938712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33"/>
          <p:cNvSpPr txBox="1"/>
          <p:nvPr/>
        </p:nvSpPr>
        <p:spPr>
          <a:xfrm>
            <a:off x="571500" y="290512"/>
            <a:ext cx="1160145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</p:txBody>
      </p:sp>
      <p:sp>
        <p:nvSpPr>
          <p:cNvPr id="503" name="Google Shape;503;p33"/>
          <p:cNvSpPr/>
          <p:nvPr/>
        </p:nvSpPr>
        <p:spPr>
          <a:xfrm>
            <a:off x="571500" y="1014412"/>
            <a:ext cx="110490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4"/>
          <p:cNvSpPr txBox="1"/>
          <p:nvPr/>
        </p:nvSpPr>
        <p:spPr>
          <a:xfrm>
            <a:off x="295275" y="1809750"/>
            <a:ext cx="116014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Questions?</a:t>
            </a:r>
            <a:endParaRPr/>
          </a:p>
        </p:txBody>
      </p:sp>
      <p:sp>
        <p:nvSpPr>
          <p:cNvPr id="509" name="Google Shape;509;p34"/>
          <p:cNvSpPr txBox="1"/>
          <p:nvPr/>
        </p:nvSpPr>
        <p:spPr>
          <a:xfrm>
            <a:off x="571500" y="3028950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Thank you for your attention.</a:t>
            </a:r>
            <a:endParaRPr/>
          </a:p>
        </p:txBody>
      </p:sp>
      <p:sp>
        <p:nvSpPr>
          <p:cNvPr id="510" name="Google Shape;510;p34"/>
          <p:cNvSpPr txBox="1"/>
          <p:nvPr/>
        </p:nvSpPr>
        <p:spPr>
          <a:xfrm>
            <a:off x="571499" y="4000500"/>
            <a:ext cx="1143562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fenil.bhingradia@sdjic.edu | ronak.savsani@sdjic.edu | nand.avaiya@sdjic.edu</a:t>
            </a:r>
            <a:endParaRPr sz="1600" dirty="0"/>
          </a:p>
        </p:txBody>
      </p:sp>
      <p:pic>
        <p:nvPicPr>
          <p:cNvPr id="511" name="Google Shape;511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45298" y="6335530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34"/>
          <p:cNvSpPr txBox="1"/>
          <p:nvPr/>
        </p:nvSpPr>
        <p:spPr>
          <a:xfrm>
            <a:off x="1760874" y="6310312"/>
            <a:ext cx="9990236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 dirty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Thank you very much for your time. We would now be happy to answer any questions you may have about the WATCHERA project.</a:t>
            </a:r>
            <a:endParaRPr dirty="0"/>
          </a:p>
        </p:txBody>
      </p:sp>
      <p:pic>
        <p:nvPicPr>
          <p:cNvPr id="513" name="Google Shape;513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80596" y="4060348"/>
            <a:ext cx="272467" cy="279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2375</Words>
  <Application>Microsoft Office PowerPoint</Application>
  <PresentationFormat>Widescreen</PresentationFormat>
  <Paragraphs>276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Admin</cp:lastModifiedBy>
  <cp:revision>5</cp:revision>
  <dcterms:modified xsi:type="dcterms:W3CDTF">2026-03-26T14:52:22Z</dcterms:modified>
</cp:coreProperties>
</file>